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66675ab4264692" /><Relationship Type="http://schemas.openxmlformats.org/officeDocument/2006/relationships/extended-properties" Target="/docProps/app.xml" Id="R3807feb4c0504cea" /><Relationship Type="http://schemas.openxmlformats.org/officeDocument/2006/relationships/officeDocument" Target="/ppt/presentation.xml" Id="R3b2726ca669045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dd29f943fa47b0"/>
  </p:sldMasterIdLst>
  <p:notesMasterIdLst>
    <p:notesMasterId xmlns:r="http://schemas.openxmlformats.org/officeDocument/2006/relationships" r:id="R5be9c405354343cf"/>
  </p:notesMasterIdLst>
  <p:sldIdLst>
    <p:sldId xmlns:r="http://schemas.openxmlformats.org/officeDocument/2006/relationships" id="256" r:id="Rfee1ba06482b49d3"/>
    <p:sldId xmlns:r="http://schemas.openxmlformats.org/officeDocument/2006/relationships" id="257" r:id="Rb7307c54ab564d21"/>
    <p:sldId xmlns:r="http://schemas.openxmlformats.org/officeDocument/2006/relationships" id="258" r:id="R6778f88137c649fb"/>
    <p:sldId xmlns:r="http://schemas.openxmlformats.org/officeDocument/2006/relationships" id="259" r:id="R922d12bc29ff4678"/>
    <p:sldId xmlns:r="http://schemas.openxmlformats.org/officeDocument/2006/relationships" id="260" r:id="R576ca0cddfd046c1"/>
    <p:sldId xmlns:r="http://schemas.openxmlformats.org/officeDocument/2006/relationships" id="261" r:id="R31cf3c0dc37349e6"/>
    <p:sldId xmlns:r="http://schemas.openxmlformats.org/officeDocument/2006/relationships" id="262" r:id="R3c8694e640164f00"/>
    <p:sldId xmlns:r="http://schemas.openxmlformats.org/officeDocument/2006/relationships" id="263" r:id="Rac1a0756728a4966"/>
    <p:sldId xmlns:r="http://schemas.openxmlformats.org/officeDocument/2006/relationships" id="264" r:id="R7616cfcdb22e4d9b"/>
    <p:sldId xmlns:r="http://schemas.openxmlformats.org/officeDocument/2006/relationships" id="265" r:id="R8f0df2e20d4741fa"/>
    <p:sldId xmlns:r="http://schemas.openxmlformats.org/officeDocument/2006/relationships" id="266" r:id="R76ad90ff6ed94348"/>
    <p:sldId xmlns:r="http://schemas.openxmlformats.org/officeDocument/2006/relationships" id="267" r:id="Rac01578b6097431a"/>
    <p:sldId xmlns:r="http://schemas.openxmlformats.org/officeDocument/2006/relationships" id="268" r:id="Ra51590b31f5d42db"/>
    <p:sldId xmlns:r="http://schemas.openxmlformats.org/officeDocument/2006/relationships" id="269" r:id="R79ff86a3945f4085"/>
    <p:sldId xmlns:r="http://schemas.openxmlformats.org/officeDocument/2006/relationships" id="270" r:id="Rc302fb3a54b548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783a3225ba452a" /><Relationship Type="http://schemas.openxmlformats.org/officeDocument/2006/relationships/slideMaster" Target="/ppt/slideMasters/slideMaster1.xml" Id="Raddd29f943fa47b0" /><Relationship Type="http://schemas.openxmlformats.org/officeDocument/2006/relationships/notesMaster" Target="/ppt/notesMasters/notesMaster1.xml" Id="R5be9c405354343cf" /><Relationship Type="http://schemas.openxmlformats.org/officeDocument/2006/relationships/presProps" Target="/ppt/presProps.xml" Id="R216fdb2393c84c6a" /><Relationship Type="http://schemas.openxmlformats.org/officeDocument/2006/relationships/tableStyles" Target="/ppt/tableStyles.xml" Id="R022a24b71ca44520" /><Relationship Type="http://schemas.openxmlformats.org/officeDocument/2006/relationships/slide" Target="/ppt/slides/slide1.xml" Id="Rfee1ba06482b49d3" /><Relationship Type="http://schemas.openxmlformats.org/officeDocument/2006/relationships/slide" Target="/ppt/slides/slide2.xml" Id="Rb7307c54ab564d21" /><Relationship Type="http://schemas.openxmlformats.org/officeDocument/2006/relationships/slide" Target="/ppt/slides/slide3.xml" Id="R6778f88137c649fb" /><Relationship Type="http://schemas.openxmlformats.org/officeDocument/2006/relationships/slide" Target="/ppt/slides/slide4.xml" Id="R922d12bc29ff4678" /><Relationship Type="http://schemas.openxmlformats.org/officeDocument/2006/relationships/slide" Target="/ppt/slides/slide5.xml" Id="R576ca0cddfd046c1" /><Relationship Type="http://schemas.openxmlformats.org/officeDocument/2006/relationships/slide" Target="/ppt/slides/slide6.xml" Id="R31cf3c0dc37349e6" /><Relationship Type="http://schemas.openxmlformats.org/officeDocument/2006/relationships/slide" Target="/ppt/slides/slide7.xml" Id="R3c8694e640164f00" /><Relationship Type="http://schemas.openxmlformats.org/officeDocument/2006/relationships/slide" Target="/ppt/slides/slide8.xml" Id="Rac1a0756728a4966" /><Relationship Type="http://schemas.openxmlformats.org/officeDocument/2006/relationships/slide" Target="/ppt/slides/slide9.xml" Id="R7616cfcdb22e4d9b" /><Relationship Type="http://schemas.openxmlformats.org/officeDocument/2006/relationships/slide" Target="/ppt/slides/slide10.xml" Id="R8f0df2e20d4741fa" /><Relationship Type="http://schemas.openxmlformats.org/officeDocument/2006/relationships/slide" Target="/ppt/slides/slide11.xml" Id="R76ad90ff6ed94348" /><Relationship Type="http://schemas.openxmlformats.org/officeDocument/2006/relationships/slide" Target="/ppt/slides/slide12.xml" Id="Rac01578b6097431a" /><Relationship Type="http://schemas.openxmlformats.org/officeDocument/2006/relationships/slide" Target="/ppt/slides/slide13.xml" Id="Ra51590b31f5d42db" /><Relationship Type="http://schemas.openxmlformats.org/officeDocument/2006/relationships/slide" Target="/ppt/slides/slide14.xml" Id="R79ff86a3945f4085" /><Relationship Type="http://schemas.openxmlformats.org/officeDocument/2006/relationships/slide" Target="/ppt/slides/slide15.xml" Id="Rc302fb3a54b548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7619ac503a48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9d7b2d5cb64cfd" /><Relationship Type="http://schemas.openxmlformats.org/officeDocument/2006/relationships/notesMaster" Target="/ppt/notesMasters/notesMaster1.xml" Id="R197614ba85cf48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05c133c2fe4eac" /><Relationship Type="http://schemas.openxmlformats.org/officeDocument/2006/relationships/notesMaster" Target="/ppt/notesMasters/notesMaster1.xml" Id="R32376eff709b4a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69fe1fc9684a3f" /><Relationship Type="http://schemas.openxmlformats.org/officeDocument/2006/relationships/notesMaster" Target="/ppt/notesMasters/notesMaster1.xml" Id="Raa933eeb8de448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426f6274e04da9" /><Relationship Type="http://schemas.openxmlformats.org/officeDocument/2006/relationships/notesMaster" Target="/ppt/notesMasters/notesMaster1.xml" Id="R5117f1c857944b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21b454614b42fc" /><Relationship Type="http://schemas.openxmlformats.org/officeDocument/2006/relationships/notesMaster" Target="/ppt/notesMasters/notesMaster1.xml" Id="R1e9b592b97df4c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b8c17a34e846ea" /><Relationship Type="http://schemas.openxmlformats.org/officeDocument/2006/relationships/notesMaster" Target="/ppt/notesMasters/notesMaster1.xml" Id="R29e96cc7928345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f184c4363c4180" /><Relationship Type="http://schemas.openxmlformats.org/officeDocument/2006/relationships/notesMaster" Target="/ppt/notesMasters/notesMaster1.xml" Id="R134bfac146ba4e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0dfa550cf54edf" /><Relationship Type="http://schemas.openxmlformats.org/officeDocument/2006/relationships/notesMaster" Target="/ppt/notesMasters/notesMaster1.xml" Id="Re3010753e9a44e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598cf3c04b48fc" /><Relationship Type="http://schemas.openxmlformats.org/officeDocument/2006/relationships/notesMaster" Target="/ppt/notesMasters/notesMaster1.xml" Id="R35c1ef01dd7445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e119d8dcca4e22" /><Relationship Type="http://schemas.openxmlformats.org/officeDocument/2006/relationships/notesMaster" Target="/ppt/notesMasters/notesMaster1.xml" Id="Rbd9f9b69b7a847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6256f267ef462d" /><Relationship Type="http://schemas.openxmlformats.org/officeDocument/2006/relationships/notesMaster" Target="/ppt/notesMasters/notesMaster1.xml" Id="R5e5bee9ebe4840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4b5f1e16b04f86" /><Relationship Type="http://schemas.openxmlformats.org/officeDocument/2006/relationships/notesMaster" Target="/ppt/notesMasters/notesMaster1.xml" Id="R6e06c77ef5044b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1df5accb674ca5" /><Relationship Type="http://schemas.openxmlformats.org/officeDocument/2006/relationships/notesMaster" Target="/ppt/notesMasters/notesMaster1.xml" Id="R6be094750c2247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fec94d38784969" /><Relationship Type="http://schemas.openxmlformats.org/officeDocument/2006/relationships/notesMaster" Target="/ppt/notesMasters/notesMaster1.xml" Id="R850f7a50b4f846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ab270858a11407b" /><Relationship Type="http://schemas.openxmlformats.org/officeDocument/2006/relationships/notesMaster" Target="/ppt/notesMasters/notesMaster1.xml" Id="Rd0b0fe5434ae4d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Открываем с одной фразы: это короткий маршрут от текущего чека до одного следующего визита.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Retained title illustration from the user-supplied deck; the original deck note states it was generated with OpenAI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Прошлые игры X5 были длинными, а награды воспринимались как слабые — это исходное ограничение продукта, а не наш вывод из синтетики.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X5 case description and case-owner Q&amp;A supplied by the user, 03.09.2026.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Три условия успеха: быстро для человека, заметно как игра, положительно по марже.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X5 case description and success criteria supplied by the user, 03.09.2026.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Главное изменение: текущий чек уже даёт стартовый прогресс; путь не начинается с нуля.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Goal-gradient study: https://journals.sagepub.com/doi/abs/10.1509/jmkr.43.1.39</a:t>
            </a:r>
          </a:p>
          <a:p xmlns:a="http://schemas.openxmlformats.org/drawingml/2006/main">
            <a:r>
              <a:t>- Endowed progress effect: https://papers.ssrn.com/sol3/papers.cfm?abstract_id=991962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Прокачка персонажа здесь отвечает на вопрос пользователя «что изменилось после моего чека?», а не продаёт статус за высокий расход.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Goal-gradient study: https://journals.sagepub.com/doi/abs/10.1509/jmkr.43.1.39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Колесо остаётся знакомой оболочкой, но все сектора гарантированы и предварительно отфильтрованы; физический приз может не появиться при отрицательной экономике.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Profit-aware targeting: https://pubsonline.informs.org/doi/10.1287/mksc.2020.1229</a:t>
            </a:r>
          </a:p>
          <a:p xmlns:a="http://schemas.openxmlformats.org/drawingml/2006/main">
            <a:r>
              <a:t>- Product mechanics are team hypotheses to be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Семья получает полезное действие — передать уже заработанную ценность. Магазин остаётся мета-слоем и не блокирует личную награду.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GS25 My Refrigerator adoption example: https://view.asiae.co.kr/en/article/2021061408363290618</a:t>
            </a:r>
          </a:p>
          <a:p xmlns:a="http://schemas.openxmlformats.org/drawingml/2006/main">
            <a:r>
              <a:t>- X5 local-layer mechanics are team hypotheses to be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Маша — синтетическая демонстрационная персона; этот сценарий не выдаётся за результат пользовательского теста.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illustrative scenario created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Recsys отвечает за допустимость и ожидаемый эффект. LLM только формулирует объяснение из безопасного 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Profit-aware targeting: https://pubsonline.informs.org/doi/10.1287/mksc.2020.1229</a:t>
            </a:r>
          </a:p>
          <a:p xmlns:a="http://schemas.openxmlformats.org/drawingml/2006/main">
            <a:r>
              <a:t>- X5 case requirements supplied by the user, 03.09.2026.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концептуальные wireframes, а не скриншоты готового промышленного интерфейса.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Concept screens adapted from the user-supplied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Единственный первичный сигнал пока n=1; он изменил направление, но не подтверждает спрос.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interview note supplied by the user, 03.09.2026. Sample size: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Каждый риск связан с наблюдаемым правилом или метрикой MVP.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X5 case success and rejection criteria supplied by the user, 03.09.2026.</a:t>
            </a:r>
          </a:p>
          <a:p xmlns:a="http://schemas.openxmlformats.org/drawingml/2006/main">
            <a:r>
              <a:t>- Mitigations are team hypotheses to be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пилоте нужны четыре группы с одинаковым reward budget: BAU; generic wheel; personalized reward-only; full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X5 expected proof-of-concept and target metric supplied by the user, 03.09.2026.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Состав команды подтверждён: 3 человека — 1 AI Product и 2 AI Engineer. Перед отправкой нужно вписать три ФИО, фактически выполненные задачи и степень участия каждого. Разделение двух инженерных контуров пока предложено как рабочее и должно быть сверено с командой.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composition supplied by the user, 03.09.2026.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Финальный тезис: мы проверяем добавочную ценность игры отдельно от ценности самого приза.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synthesis based on the case materials and cited research in slides 2, 4, 6, and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1f803c7fd44b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8543b2d43c460b" /><Relationship Type="http://schemas.openxmlformats.org/officeDocument/2006/relationships/slideLayout" Target="/ppt/slideLayouts/slideLayout1.xml" Id="R1b1ac83c7bd642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1ac83c7bd642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8d16da5d34c24" /><Relationship Type="http://schemas.openxmlformats.org/officeDocument/2006/relationships/image" Target="/ppt/media/image.png" Id="Rfde81a4e7afa4981" /><Relationship Type="http://schemas.openxmlformats.org/officeDocument/2006/relationships/notesSlide" Target="/ppt/notesSlides/notesSlide1.xml" Id="R9f8600d30a6b46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07a55ba444e5d" /><Relationship Type="http://schemas.openxmlformats.org/officeDocument/2006/relationships/notesSlide" Target="/ppt/notesSlides/notesSlide2.xml" Id="R5135199789b148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3038bfe474d86" /><Relationship Type="http://schemas.openxmlformats.org/officeDocument/2006/relationships/notesSlide" Target="/ppt/notesSlides/notesSlide3.xml" Id="R8a84f14ab48b46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b687225de4a3d" /><Relationship Type="http://schemas.openxmlformats.org/officeDocument/2006/relationships/notesSlide" Target="/ppt/notesSlides/notesSlide4.xml" Id="Rf4487b2eb9c641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8ba183cb14e0a" /><Relationship Type="http://schemas.openxmlformats.org/officeDocument/2006/relationships/notesSlide" Target="/ppt/notesSlides/notesSlide5.xml" Id="R470a5a77d9e943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6081949c74ea4" /><Relationship Type="http://schemas.openxmlformats.org/officeDocument/2006/relationships/notesSlide" Target="/ppt/notesSlides/notesSlide6.xml" Id="Ra6bc788e46f647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c8b30774046a0" /><Relationship Type="http://schemas.openxmlformats.org/officeDocument/2006/relationships/notesSlide" Target="/ppt/notesSlides/notesSlide7.xml" Id="Re28b785bd57d47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0b58487af4e2e" /><Relationship Type="http://schemas.openxmlformats.org/officeDocument/2006/relationships/notesSlide" Target="/ppt/notesSlides/notesSlide8.xml" Id="R0a113c5a56dc42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0531b2bee48ed" /><Relationship Type="http://schemas.openxmlformats.org/officeDocument/2006/relationships/notesSlide" Target="/ppt/notesSlides/notesSlide9.xml" Id="R76b177f07d3045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61d211fe54341" /><Relationship Type="http://schemas.openxmlformats.org/officeDocument/2006/relationships/notesSlide" Target="/ppt/notesSlides/notesSlide10.xml" Id="Re5f9918e8e2b45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49b1dac4649a3" /><Relationship Type="http://schemas.openxmlformats.org/officeDocument/2006/relationships/notesSlide" Target="/ppt/notesSlides/notesSlide11.xml" Id="R84417394d15b4f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ad91bd3b446d4" /><Relationship Type="http://schemas.openxmlformats.org/officeDocument/2006/relationships/notesSlide" Target="/ppt/notesSlides/notesSlide12.xml" Id="Rcd60ee85996545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a6a254d77492b" /><Relationship Type="http://schemas.openxmlformats.org/officeDocument/2006/relationships/notesSlide" Target="/ppt/notesSlides/notesSlide13.xml" Id="R60af1b5d9be444d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7fa7c73a44ba4" /><Relationship Type="http://schemas.openxmlformats.org/officeDocument/2006/relationships/notesSlide" Target="/ppt/notesSlides/notesSlide14.xml" Id="Rcedd9863f07541b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28af09e1c473c" /><Relationship Type="http://schemas.openxmlformats.org/officeDocument/2006/relationships/notesSlide" Target="/ppt/notesSlides/notesSlide15.xml" Id="R31e4c5cce45147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A50FFC07-B789-4933-BD7B-D8A360EF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FAD0BDF-C948-48DB-A9F1-2F779153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РАБОЧАЯ ПРЕЗЕНТАЦИЯ · X5 ЧЕКПОИНТ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C5C5BF88-09E6-4BEE-A34E-A5E2179A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Своя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Пятёрочка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9AE1A1D-E53C-4F88-9932-E1F53D2B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Короткий AI-маршрут: текущий чек открывает персональный приз и героя, один следующий визит завершает цикл.</a:t>
            </a:r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A22AD0AF-8497-495A-A1E9-E7232A73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3905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35D5DCA-8BFE-4763-B70F-7689B8C1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D9D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D9D54"/>
                </a:solidFill>
                <a:latin typeface="Arial"/>
                <a:ea typeface="Arial"/>
                <a:cs typeface="Arial"/>
              </a:rPr>
              <a:t>Рабочее название: X5 Чекпоинт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81a4e7afa4981"/>
          <a:srcRect xmlns:a="http://schemas.openxmlformats.org/drawingml/2006/main" l="21955" t="0" r="219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900" y="400050"/>
            <a:ext cx="5619750" cy="5638800"/>
          </a:xfrm>
          <a:prstGeom xmlns:a="http://schemas.openxmlformats.org/drawingml/2006/main" prst="roundRect">
            <a:avLst>
              <a:gd name="adj" fmla="val 4068"/>
            </a:avLst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FEA2884-6C9B-402E-962B-D876ED21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81845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CC81ABE7-F101-48D7-8812-3FA6D24F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ПРОБЛЕМАТИКА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F7089AC-31EE-4D72-9453-B5EF0309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Игры проигрывают, когда ценность слишком далеко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3EA46DCD-D356-4013-A14F-70601D58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E0B8F11-DB97-48DC-912C-42624F62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AFA8C73-8A91-4C48-BC1B-F3D79365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По Q&amp;A кейсодателя, прошлые механики были слишком длинными, а награда — слабой: MAU и retention почти не возникали.</a:t>
            </a:r>
          </a:p>
        </p:txBody>
      </p:sp>
      <p:sp>
        <p:nvSpPr>
          <p:cNvPr id="6" name="card-Прогресс невидим">
            <a:extLst xmlns:a="http://schemas.openxmlformats.org/drawingml/2006/main">
              <a:ext uri="{FF2B5EF4-FFF2-40B4-BE49-F238E27FC236}">
                <a16:creationId xmlns:a16="http://schemas.microsoft.com/office/drawing/2014/main" id="{CA4E4129-1FAE-4B85-87BD-B3DF8E65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34290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C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ccent-Прогресс невидим">
            <a:extLst xmlns:a="http://schemas.openxmlformats.org/drawingml/2006/main">
              <a:ext uri="{FF2B5EF4-FFF2-40B4-BE49-F238E27FC236}">
                <a16:creationId xmlns:a16="http://schemas.microsoft.com/office/drawing/2014/main" id="{F62A09D4-9CA5-4E70-86C1-25C07F76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047F683-21A5-45FB-99EC-F7ED6D83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Долго до награды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D4A5A02-51D1-4950-B4C3-0B268196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2971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Сложный маршрут требует лишних действий и не даёт причины открыть приложение после чека.</a:t>
            </a:r>
          </a:p>
        </p:txBody>
      </p:sp>
      <p:sp>
        <p:nvSpPr>
          <p:cNvPr id="10" name="card-Магазин обезличен">
            <a:extLst xmlns:a="http://schemas.openxmlformats.org/drawingml/2006/main">
              <a:ext uri="{FF2B5EF4-FFF2-40B4-BE49-F238E27FC236}">
                <a16:creationId xmlns:a16="http://schemas.microsoft.com/office/drawing/2014/main" id="{906B0F44-ED2F-43A8-9F65-86D6C8E7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86050"/>
            <a:ext cx="34290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ccent-Магазин обезличен">
            <a:extLst xmlns:a="http://schemas.openxmlformats.org/drawingml/2006/main">
              <a:ext uri="{FF2B5EF4-FFF2-40B4-BE49-F238E27FC236}">
                <a16:creationId xmlns:a16="http://schemas.microsoft.com/office/drawing/2014/main" id="{0D07DF07-441A-458D-8333-D35326F7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860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D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7439358-6E0B-49DA-957D-5374AA7F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337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Приз не нужен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341A7D0-FF66-44AE-9154-A4911D4C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29000"/>
            <a:ext cx="2971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Случайный купон или малая скидка выглядят как ещё одна реклама, а не выигрыш.</a:t>
            </a:r>
          </a:p>
        </p:txBody>
      </p:sp>
      <p:sp>
        <p:nvSpPr>
          <p:cNvPr id="14" name="card-Сообщество отсутствует">
            <a:extLst xmlns:a="http://schemas.openxmlformats.org/drawingml/2006/main">
              <a:ext uri="{FF2B5EF4-FFF2-40B4-BE49-F238E27FC236}">
                <a16:creationId xmlns:a16="http://schemas.microsoft.com/office/drawing/2014/main" id="{74DC1C5B-24DF-4B10-B195-60827888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34290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ccent-Сообщество отсутствует">
            <a:extLst xmlns:a="http://schemas.openxmlformats.org/drawingml/2006/main">
              <a:ext uri="{FF2B5EF4-FFF2-40B4-BE49-F238E27FC236}">
                <a16:creationId xmlns:a16="http://schemas.microsoft.com/office/drawing/2014/main" id="{089DCB72-6F24-457A-A13F-AA3AA28B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C965646-5A35-4ACF-965A-487494C0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337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Бизнес платит лишнее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9537ADF-0ED6-4DCA-95A8-FB06C200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0"/>
            <a:ext cx="2971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Около 72% промо-расходов не дают измеримого инкремента: награда оплачивает покупку, которая произошла бы и так.</a:t>
            </a:r>
          </a:p>
        </p:txBody>
      </p:sp>
    </p:spTree>
    <p:extLst>
      <p:ext uri="{BB962C8B-B14F-4D97-AF65-F5344CB8AC3E}">
        <p14:creationId xmlns:p14="http://schemas.microsoft.com/office/powerpoint/2010/main" val="16869930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C94A2BFE-ED42-46BD-B7EC-6EAD409C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ПОСТАНОВКА ЗАДАЧИ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8548212-AE63-4BDB-B252-5DE12B28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71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Нужен один дополнительный визит — не ещё одна мини-игра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8D0CE189-1CCE-42DB-922D-6D853C64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8B5276C-0C1F-4A04-9E1E-08BAE3EB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48823D-CEB3-43A9-81AD-103DDFBF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Механика должна одновременно дать быструю ценность человеку и положительную экономику X5.</a:t>
            </a:r>
          </a:p>
        </p:txBody>
      </p:sp>
      <p:sp>
        <p:nvSpPr>
          <p:cNvPr id="6" name="circle">
            <a:extLst xmlns:a="http://schemas.openxmlformats.org/drawingml/2006/main">
              <a:ext uri="{FF2B5EF4-FFF2-40B4-BE49-F238E27FC236}">
                <a16:creationId xmlns:a16="http://schemas.microsoft.com/office/drawing/2014/main" id="{04D6A1D2-2B57-4625-9896-839FB3CE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2A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68ECD0B-EE2F-4C4E-B32C-812AC71A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Пользователь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979A941-7513-4FAD-8742-02C1D233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Видит реальный приз сразу после чека и понимает: остался один шаг.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63617F54-B321-433A-8B4E-F767B4F6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42A2D"/>
            </a:solidFill>
            <a:prstDash val="solid"/>
          </a:ln>
        </p:spPr>
      </p:sp>
      <p:sp>
        <p:nvSpPr>
          <p:cNvPr id="10" name="circle">
            <a:extLst xmlns:a="http://schemas.openxmlformats.org/drawingml/2006/main">
              <a:ext uri="{FF2B5EF4-FFF2-40B4-BE49-F238E27FC236}">
                <a16:creationId xmlns:a16="http://schemas.microsoft.com/office/drawing/2014/main" id="{1F39A428-231E-42DA-980E-65F2887C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D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D18FA50-CD1E-4151-B4D4-11619AA5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Игровой слой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6C86F2B-6494-424D-9FEE-E4E26949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767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Персонаж растёт вместе с коротким маршрутом; ежедневная рутина не нужна.</a:t>
            </a:r>
          </a:p>
        </p:txBody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131C401F-EB18-46A1-BB5A-7D03D9DA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D9D54"/>
            </a:solidFill>
            <a:prstDash val="solid"/>
          </a:ln>
        </p:spPr>
      </p:sp>
      <p:sp>
        <p:nvSpPr>
          <p:cNvPr id="14" name="circle">
            <a:extLst xmlns:a="http://schemas.openxmlformats.org/drawingml/2006/main">
              <a:ext uri="{FF2B5EF4-FFF2-40B4-BE49-F238E27FC236}">
                <a16:creationId xmlns:a16="http://schemas.microsoft.com/office/drawing/2014/main" id="{6C0B2F5F-BAED-49D7-93CF-5BC77C77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67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AD28CEB-F7FA-411C-8AB2-7AF2947E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Бизнес X5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EAF20AA-A8D8-4CA3-B3C1-CB2A68D4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767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Показывает механику там, где вероятна новая покупочная неделя, а приз оплачивает бренд.</a:t>
            </a:r>
          </a:p>
        </p:txBody>
      </p:sp>
      <p:sp>
        <p:nvSpPr>
          <p:cNvPr id="17" name="line">
            <a:extLst xmlns:a="http://schemas.openxmlformats.org/drawingml/2006/main">
              <a:ext uri="{FF2B5EF4-FFF2-40B4-BE49-F238E27FC236}">
                <a16:creationId xmlns:a16="http://schemas.microsoft.com/office/drawing/2014/main" id="{97F4979A-1EB8-47A8-A84A-F3645E40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340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0789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9B9E0B94-3096-4506-ADB3-35FAAC6D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ВЫБРАННЫЙ ПОДХОД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1285FDD-8DA1-4E36-A7D0-6C0A7F57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Два чека образуют законченный игровой забег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73E6F727-0D22-47D1-AF63-AD221F58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669A70C-7642-4E95-BD6D-45905E4D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42C1D7B-F12A-4AC8-85AC-4070B52C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Текущий чек запускает прогресс; один квалифицированный визит через 3–7 дней завершает маршрут.</a:t>
            </a:r>
          </a:p>
        </p:txBody>
      </p:sp>
      <p:sp>
        <p:nvSpPr>
          <p:cNvPr id="6" name="connector-0">
            <a:extLst xmlns:a="http://schemas.openxmlformats.org/drawingml/2006/main">
              <a:ext uri="{FF2B5EF4-FFF2-40B4-BE49-F238E27FC236}">
                <a16:creationId xmlns:a16="http://schemas.microsoft.com/office/drawing/2014/main" id="{DD3350BC-C095-43C8-92E5-41137241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195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CDD2"/>
            </a:solidFill>
            <a:prstDash val="solid"/>
          </a:ln>
        </p:spPr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674FD27F-AB8A-431D-8411-7E9DE21D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87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connector-1">
            <a:extLst xmlns:a="http://schemas.openxmlformats.org/drawingml/2006/main">
              <a:ext uri="{FF2B5EF4-FFF2-40B4-BE49-F238E27FC236}">
                <a16:creationId xmlns:a16="http://schemas.microsoft.com/office/drawing/2014/main" id="{3DAEBC94-7573-4D1E-9302-0EBE1FDB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CDD2"/>
            </a:solidFill>
            <a:prstDash val="solid"/>
          </a:ln>
        </p:spPr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F7E321EA-009E-40B2-B082-CE5F9F43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87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0" name="connector-2">
            <a:extLst xmlns:a="http://schemas.openxmlformats.org/drawingml/2006/main">
              <a:ext uri="{FF2B5EF4-FFF2-40B4-BE49-F238E27FC236}">
                <a16:creationId xmlns:a16="http://schemas.microsoft.com/office/drawing/2014/main" id="{787F3404-9F6C-4BEC-B91A-2AB777EF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195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CDD2"/>
            </a:solidFill>
            <a:prstDash val="solid"/>
          </a:ln>
        </p:spPr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FEADED1F-E742-416F-811B-2820B26F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87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2" name="connector-3">
            <a:extLst xmlns:a="http://schemas.openxmlformats.org/drawingml/2006/main">
              <a:ext uri="{FF2B5EF4-FFF2-40B4-BE49-F238E27FC236}">
                <a16:creationId xmlns:a16="http://schemas.microsoft.com/office/drawing/2014/main" id="{7ECDBC81-1AEF-4188-BD27-8C715B14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195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CDD2"/>
            </a:solidFill>
            <a:prstDash val="solid"/>
          </a:ln>
        </p:spPr>
      </p:sp>
      <p:sp>
        <p:nvSpPr>
          <p:cNvPr id="13" name="arrow-3">
            <a:extLst xmlns:a="http://schemas.openxmlformats.org/drawingml/2006/main">
              <a:ext uri="{FF2B5EF4-FFF2-40B4-BE49-F238E27FC236}">
                <a16:creationId xmlns:a16="http://schemas.microsoft.com/office/drawing/2014/main" id="{FE49F4C9-09C8-4327-B422-4433A3EB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87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circle">
            <a:extLst xmlns:a="http://schemas.openxmlformats.org/drawingml/2006/main">
              <a:ext uri="{FF2B5EF4-FFF2-40B4-BE49-F238E27FC236}">
                <a16:creationId xmlns:a16="http://schemas.microsoft.com/office/drawing/2014/main" id="{D2ABE025-7314-4F4A-B2F1-50D9FD40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2A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140115F-7EBA-42B4-80ED-2A04C80B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3053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Текущий чек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3A6DE3F-A7AD-41CE-BB59-F735EE0B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9530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Старт без действий</a:t>
            </a:r>
          </a:p>
        </p:txBody>
      </p:sp>
      <p:sp>
        <p:nvSpPr>
          <p:cNvPr id="17" name="circle">
            <a:extLst xmlns:a="http://schemas.openxmlformats.org/drawingml/2006/main">
              <a:ext uri="{FF2B5EF4-FFF2-40B4-BE49-F238E27FC236}">
                <a16:creationId xmlns:a16="http://schemas.microsoft.com/office/drawing/2014/main" id="{A4C1A6D5-8ABD-4FA5-A1DA-5C079AD4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432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2A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F3DA5AD-591D-4DAD-8D99-D8C59F24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053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Три AI-приза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BA8A99B-6C79-42F9-A097-7057F684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530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Все релевантны</a:t>
            </a:r>
          </a:p>
        </p:txBody>
      </p:sp>
      <p:sp>
        <p:nvSpPr>
          <p:cNvPr id="20" name="circle">
            <a:extLst xmlns:a="http://schemas.openxmlformats.org/drawingml/2006/main">
              <a:ext uri="{FF2B5EF4-FFF2-40B4-BE49-F238E27FC236}">
                <a16:creationId xmlns:a16="http://schemas.microsoft.com/office/drawing/2014/main" id="{917397FB-C038-4283-B4EE-2EC1F21C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432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2A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BBE8ED5-C817-44F3-B31D-D1068FE4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053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Выбор маршрута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DD389D9-C898-4732-B544-A948DCA5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9530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Приз уже в рюкзаке</a:t>
            </a:r>
          </a:p>
        </p:txBody>
      </p:sp>
      <p:sp>
        <p:nvSpPr>
          <p:cNvPr id="23" name="circle">
            <a:extLst xmlns:a="http://schemas.openxmlformats.org/drawingml/2006/main">
              <a:ext uri="{FF2B5EF4-FFF2-40B4-BE49-F238E27FC236}">
                <a16:creationId xmlns:a16="http://schemas.microsoft.com/office/drawing/2014/main" id="{88492812-4210-4B7D-9EE6-7E8651E5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432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D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57BFF53-3CE0-4905-BCC9-04D4A613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053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Один новый визит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33D5A71-FFC0-43E3-AA80-CA166261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9530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Другой день + мин. чек</a:t>
            </a:r>
          </a:p>
        </p:txBody>
      </p:sp>
      <p:sp>
        <p:nvSpPr>
          <p:cNvPr id="26" name="circle">
            <a:extLst xmlns:a="http://schemas.openxmlformats.org/drawingml/2006/main">
              <a:ext uri="{FF2B5EF4-FFF2-40B4-BE49-F238E27FC236}">
                <a16:creationId xmlns:a16="http://schemas.microsoft.com/office/drawing/2014/main" id="{B3BA54D2-9B60-46E2-A745-FB5BAF59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432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2A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1922099-09F8-4423-B4C2-6902EFA7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053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Приз + уровень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309B2A1-E987-4032-BF89-73C4B07B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Завершённый забег</a:t>
            </a:r>
          </a:p>
        </p:txBody>
      </p:sp>
    </p:spTree>
    <p:extLst>
      <p:ext uri="{BB962C8B-B14F-4D97-AF65-F5344CB8AC3E}">
        <p14:creationId xmlns:p14="http://schemas.microsoft.com/office/powerpoint/2010/main" val="6068338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351A0D77-DEDA-45D4-8D93-9A0F4695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МЕХАНИКА ПЕРСОНАЖА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77DDFEA-D64D-4DD1-A232-8C034029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Персонаж растёт за маршруты, а не за расходы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DED8F581-B204-41A0-B65D-7343D0F0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2ADBCEB-2B51-4664-9506-937ACEE5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B8BD3EF-2761-492D-A9F0-50616DBD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Чек даёт игровой дроп сразу, следующий визит — опыт и новый уровень.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9CC76EA3-B784-4543-BBF7-39BC6B5C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9CDD2"/>
            </a:solidFill>
            <a:prstDash val="solid"/>
          </a:ln>
        </p:spPr>
      </p:sp>
      <p:sp>
        <p:nvSpPr>
          <p:cNvPr id="7" name="circle">
            <a:extLst xmlns:a="http://schemas.openxmlformats.org/drawingml/2006/main">
              <a:ext uri="{FF2B5EF4-FFF2-40B4-BE49-F238E27FC236}">
                <a16:creationId xmlns:a16="http://schemas.microsoft.com/office/drawing/2014/main" id="{9B7FBDC3-20AD-48AA-8ABD-2AA60C4C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2A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EF8AA8B-325D-44FC-877E-88FF7BD5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1719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Стартовый дроп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28F3FB1-A8C5-42C9-B358-076831F8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1010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Косметика сразу</a:t>
            </a:r>
          </a:p>
        </p:txBody>
      </p:sp>
      <p:sp>
        <p:nvSpPr>
          <p:cNvPr id="10" name="circle">
            <a:extLst xmlns:a="http://schemas.openxmlformats.org/drawingml/2006/main">
              <a:ext uri="{FF2B5EF4-FFF2-40B4-BE49-F238E27FC236}">
                <a16:creationId xmlns:a16="http://schemas.microsoft.com/office/drawing/2014/main" id="{A60306E3-7DE7-44E7-8161-DF598E30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146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2A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1D5A493-43C5-461D-843D-8605009F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1719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9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Первый маршрут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510FC8E-D152-465A-81D6-C996F5E0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61010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Предмет + опыт</a:t>
            </a:r>
          </a:p>
        </p:txBody>
      </p:sp>
      <p:sp>
        <p:nvSpPr>
          <p:cNvPr id="13" name="circle">
            <a:extLst xmlns:a="http://schemas.openxmlformats.org/drawingml/2006/main">
              <a:ext uri="{FF2B5EF4-FFF2-40B4-BE49-F238E27FC236}">
                <a16:creationId xmlns:a16="http://schemas.microsoft.com/office/drawing/2014/main" id="{05453A2B-3075-47E9-A2CD-9F92AB7B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87B5BC3-E0F6-46C7-8C65-1ECFEBFB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1719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78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Серия маршрутов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077F0FD-A183-4BEB-BAC1-D41F27E0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61010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Переброс приза</a:t>
            </a:r>
          </a:p>
        </p:txBody>
      </p:sp>
      <p:sp>
        <p:nvSpPr>
          <p:cNvPr id="16" name="circle">
            <a:extLst xmlns:a="http://schemas.openxmlformats.org/drawingml/2006/main">
              <a:ext uri="{FF2B5EF4-FFF2-40B4-BE49-F238E27FC236}">
                <a16:creationId xmlns:a16="http://schemas.microsoft.com/office/drawing/2014/main" id="{37770D58-4FE2-4B07-8A61-672181FD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146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D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1762729-DA26-4D47-82DB-0BDF3402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719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Опытный игрок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DF345F3-D835-48FE-8A75-45E9F638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61010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Подарок близкому</a:t>
            </a:r>
          </a:p>
        </p:txBody>
      </p:sp>
      <p:sp>
        <p:nvSpPr>
          <p:cNvPr id="19" name="rect">
            <a:extLst xmlns:a="http://schemas.openxmlformats.org/drawingml/2006/main">
              <a:ext uri="{FF2B5EF4-FFF2-40B4-BE49-F238E27FC236}">
                <a16:creationId xmlns:a16="http://schemas.microsoft.com/office/drawing/2014/main" id="{D8E93311-0397-4488-B54F-D246FF43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86400"/>
            <a:ext cx="111252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E8B84F3-497B-419B-BF2E-A2489993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70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Уровень героя не дублирует уровни «Х5 Клуба» и не зависит от суммы трат: это прогресс и игровые способности, а не статус.</a:t>
            </a:r>
          </a:p>
        </p:txBody>
      </p:sp>
    </p:spTree>
    <p:extLst>
      <p:ext uri="{BB962C8B-B14F-4D97-AF65-F5344CB8AC3E}">
        <p14:creationId xmlns:p14="http://schemas.microsoft.com/office/powerpoint/2010/main" val="9898498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00606D51-96F8-4540-916B-68675A5D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НАГРАДА И ЭКОНОМИКА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3B6C8A-00E9-4E88-A734-C2B3C39C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Бесплатный товар — не лотерея для каждого чека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122933A7-1055-47A9-9CCE-BA498014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454EFD0-C17F-4944-92D1-002AF6E5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2F3FEFA-3348-4AAC-A7A1-A31C496A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Раскрытие — только быстрый reveal: без проигрышных секторов и без случайности, поэтому это не стимулирующая лотерея.</a:t>
            </a:r>
          </a:p>
        </p:txBody>
      </p:sp>
      <p:sp>
        <p:nvSpPr>
          <p:cNvPr id="6" name="circle">
            <a:extLst xmlns:a="http://schemas.openxmlformats.org/drawingml/2006/main">
              <a:ext uri="{FF2B5EF4-FFF2-40B4-BE49-F238E27FC236}">
                <a16:creationId xmlns:a16="http://schemas.microsoft.com/office/drawing/2014/main" id="{E4E5AFAD-C736-4CC3-BF09-B43F8AFF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2A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97B7A3B-30CD-46ED-A9B3-4A8F0622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Три призовых пути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BB08DF4-A146-48CA-B05B-862D045E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28950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Recsys выбирает понятные варианты из повторяемых категорий пользователя.</a:t>
            </a:r>
          </a:p>
        </p:txBody>
      </p:sp>
      <p:sp>
        <p:nvSpPr>
          <p:cNvPr id="9" name="circle">
            <a:extLst xmlns:a="http://schemas.openxmlformats.org/drawingml/2006/main">
              <a:ext uri="{FF2B5EF4-FFF2-40B4-BE49-F238E27FC236}">
                <a16:creationId xmlns:a16="http://schemas.microsoft.com/office/drawing/2014/main" id="{CB7A8C23-753A-4D40-8C9C-30B6EAA9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D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◔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30CF4A7-8DAA-45F3-94CE-3E703C93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71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Приз в рюкзаке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F1ACCC8-98B2-475B-B6A2-A284C6B0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28950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Видно сразу; выдача — 100% списание стоимости SKU на кассе после следующего визита. Резерв остатка не нужен.</a:t>
            </a:r>
          </a:p>
        </p:txBody>
      </p:sp>
      <p:sp>
        <p:nvSpPr>
          <p:cNvPr id="12" name="circle">
            <a:extLst xmlns:a="http://schemas.openxmlformats.org/drawingml/2006/main">
              <a:ext uri="{FF2B5EF4-FFF2-40B4-BE49-F238E27FC236}">
                <a16:creationId xmlns:a16="http://schemas.microsoft.com/office/drawing/2014/main" id="{7FE31471-18F4-4EA8-8248-F009C953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2A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2381C21-CBAF-493F-A799-3387B0CD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3387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Приз платит бренд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4CE9FF8-C7C5-4805-8F62-2EF4C37F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91075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Гарантированный trial для поставщика: себестоимость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для X5 ≈ 0. Своя маржа порог не проходит.</a:t>
            </a:r>
          </a:p>
        </p:txBody>
      </p:sp>
      <p:sp>
        <p:nvSpPr>
          <p:cNvPr id="15" name="circle">
            <a:extLst xmlns:a="http://schemas.openxmlformats.org/drawingml/2006/main">
              <a:ext uri="{FF2B5EF4-FFF2-40B4-BE49-F238E27FC236}">
                <a16:creationId xmlns:a16="http://schemas.microsoft.com/office/drawing/2014/main" id="{6A04A3EE-2D61-410E-B3BA-B9B66F1B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D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★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6F5D850-4903-4349-B521-9466913B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3387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No action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6142D27-74DF-4DB8-A64C-2BB74C3F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91075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Если ожидаемая маржа ниже стоимости приза,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физический reward не показывается.</a:t>
            </a:r>
          </a:p>
        </p:txBody>
      </p:sp>
    </p:spTree>
    <p:extLst>
      <p:ext uri="{BB962C8B-B14F-4D97-AF65-F5344CB8AC3E}">
        <p14:creationId xmlns:p14="http://schemas.microsoft.com/office/powerpoint/2010/main" val="3676610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9711C1B0-C40B-4EB9-8171-9F171F3E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СОЦИАЛЬНЫЙ СЛОЙ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BCCC918-E8A8-42F2-A502-1EB252CE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36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Семья и магазин усиливают маршрут, но не задерживают приз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E96A7C3D-7BC1-4BC0-B7D2-9C4E30B2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293ED99-2B53-4E77-A840-8278B556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85FD9A64-666D-4FBB-877B-00CA0120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143500" cy="4095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C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6CBB720-3D2F-4E43-BD2B-E2D9ADDF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Семья вместо спам-реферала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6346394-5A10-4C48-9DEB-28606A9E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4191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подарить заработанный приз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общий необязательный маршрут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бонус — после первого валидного чека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подозрительная связь → delayed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4F99573-85C2-40E6-9B06-17F9A9DF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Польза возникает до приглашения: человеку не нужно продавать X5 друзьям.</a:t>
            </a:r>
          </a:p>
        </p:txBody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71E2D920-A905-4B4F-980E-0D193B2D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14500"/>
            <a:ext cx="5676900" cy="4095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F18B807-9DDF-4AAB-8DEC-3E7B9D39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Магазин как сезонная команда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4693776-BD49-42CF-BE68-DE8E1089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маршрут даёт вклад выбранной точке</a:t>
            </a:r>
          </a:p>
          <a:p xmlns:a="http://schemas.openxmlformats.org/drawingml/2006/main">
            <a:r>
              <a:t>• рейтинг — анонимный percentile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один учтённый чек в неделю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голосование — только Phase 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AEED7B6-32FC-4098-A7C3-B41395B0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625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Локальный слой создаёт общую историю, но не управляет ценностью личного приза.</a:t>
            </a:r>
          </a:p>
        </p:txBody>
      </p:sp>
    </p:spTree>
    <p:extLst>
      <p:ext uri="{BB962C8B-B14F-4D97-AF65-F5344CB8AC3E}">
        <p14:creationId xmlns:p14="http://schemas.microsoft.com/office/powerpoint/2010/main" val="2766649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74F42730-14B7-4E55-BD8F-D0F515A0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СЦЕНАРИЙ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AB7537-DEFE-4946-9736-460E4355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Маша получает ценность сразу и видит ровно один шаг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4580EB82-57D8-48B5-A798-FFC398C3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B730846-A793-409E-8305-876347A7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line">
            <a:extLst xmlns:a="http://schemas.openxmlformats.org/drawingml/2006/main">
              <a:ext uri="{FF2B5EF4-FFF2-40B4-BE49-F238E27FC236}">
                <a16:creationId xmlns:a16="http://schemas.microsoft.com/office/drawing/2014/main" id="{BDDF6424-A6F9-4136-92CC-A60F0F9D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ABC0BC22-7BFC-4B0A-AE01-7E19C716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34290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B1BC505-1DBD-437B-8EF5-99F326EC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1. Чек запускает забег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344C491-E232-4A8B-9991-5A2B1EC1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2895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После обычной покупки AI показывает кофе, корм и йогурт: все варианты знакомы Маше и проходят бюджет.</a:t>
            </a:r>
          </a:p>
        </p:txBody>
      </p:sp>
      <p:sp>
        <p:nvSpPr>
          <p:cNvPr id="9" name="circle">
            <a:extLst xmlns:a="http://schemas.openxmlformats.org/drawingml/2006/main">
              <a:ext uri="{FF2B5EF4-FFF2-40B4-BE49-F238E27FC236}">
                <a16:creationId xmlns:a16="http://schemas.microsoft.com/office/drawing/2014/main" id="{FE0C92F3-9ABA-4DF2-A5D1-419CC9A1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2A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17B5B3A-753B-4883-AF8E-C0CCCEFB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Сразу после чека</a:t>
            </a:r>
          </a:p>
        </p:txBody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054910A0-FF6A-4F18-AFDB-1A590AC6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643FCEA-CD9F-44EC-B5F9-346D5973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9550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2. Маша выбирает приз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D8A38EE-741B-4A1D-A0DE-2E787D12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33700"/>
            <a:ext cx="2895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Кофе появляется в рюкзаке, герой получает куртку, а экран показывает: нужен один визит в 3–7 дней.</a:t>
            </a:r>
          </a:p>
        </p:txBody>
      </p:sp>
      <p:sp>
        <p:nvSpPr>
          <p:cNvPr id="14" name="circle">
            <a:extLst xmlns:a="http://schemas.openxmlformats.org/drawingml/2006/main">
              <a:ext uri="{FF2B5EF4-FFF2-40B4-BE49-F238E27FC236}">
                <a16:creationId xmlns:a16="http://schemas.microsoft.com/office/drawing/2014/main" id="{63376487-9C3F-469E-B3C6-EEC54656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95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2A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FBA45B3-66D8-41F3-AB40-F5C677AC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76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Одно решение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3C9732CD-07EE-40DB-A025-4095B031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4290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6593ACB-0A9D-47C6-B904-451345A3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3. Визит завершает маршрут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4A9A71B-5544-438C-8785-7707D491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33700"/>
            <a:ext cx="2895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Чек в другой день открывает кофе, повышает уровень героя и добавляет вклад выбранному магазину.</a:t>
            </a:r>
          </a:p>
        </p:txBody>
      </p:sp>
      <p:sp>
        <p:nvSpPr>
          <p:cNvPr id="19" name="circle">
            <a:extLst xmlns:a="http://schemas.openxmlformats.org/drawingml/2006/main">
              <a:ext uri="{FF2B5EF4-FFF2-40B4-BE49-F238E27FC236}">
                <a16:creationId xmlns:a16="http://schemas.microsoft.com/office/drawing/2014/main" id="{24914AC2-9DF9-49AE-9EE3-0600AC1D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95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D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B52EE1E-003A-4F60-8E4B-A5819C10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676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D9D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D9D54"/>
                </a:solidFill>
                <a:latin typeface="Arial"/>
                <a:ea typeface="Arial"/>
                <a:cs typeface="Arial"/>
              </a:rPr>
              <a:t>Один следующий визит</a:t>
            </a:r>
          </a:p>
        </p:txBody>
      </p:sp>
    </p:spTree>
    <p:extLst>
      <p:ext uri="{BB962C8B-B14F-4D97-AF65-F5344CB8AC3E}">
        <p14:creationId xmlns:p14="http://schemas.microsoft.com/office/powerpoint/2010/main" val="434249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82BD572C-687F-4545-83CF-5EBA5C6F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AI-ЯДРО И ЭКОНОМИКА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F354DE3-E729-47E5-97EF-B31747A4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Recsys принимает решение, LLM объясняет его человеку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B28DBF55-05CF-4D69-916D-8F12F646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1C83278-432F-45AC-BFE3-FF8BE258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F020784-FC3F-44E9-A82C-1CAD7351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Модель ранжирует разрешённые варианты; LLM получает безопасный JSON и не определяет цены, SKU и eligibility.</a:t>
            </a:r>
          </a:p>
        </p:txBody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F42E12DE-8865-4B68-9DF8-F54890AF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3429000" cy="26670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FC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6B3938F-EA4C-4E55-BDC1-7F81071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Recsys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767C7B0-C3E0-4A57-9584-AF302A13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Чеки + ритм пополнения + вероятность естественного визита</a:t>
            </a:r>
          </a:p>
        </p:txBody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7E6BEDFD-2A14-495D-8B28-DC8BCD6B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3429000" cy="26670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F781BD7-ED97-4955-AA98-C2B059E9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7660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0764DA3-3E3B-4ED6-9DB9-8CFEB785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577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Маржа + лимиты + антифрод + каталог → reward или no_action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0319AC17-4CE2-4E09-AC56-8BC9E95A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3429000" cy="26670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EAF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E9EDC1D-098B-44E3-9B65-7C434BB5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7660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4D9D5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D9D54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F7FBA72-BE93-4A44-8AC5-06ED1F93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Название маршрута, короткая история и понятное объяснение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6AEDBF9-95B9-4337-A404-1FF138D7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Порог: reward_cost ≤ (ΔP / P(completion)) × CM. При среднем чеке 555 ₽ и марже 23,8% потолок своей награды 6–34 ₽ → платит бренд.</a:t>
            </a:r>
          </a:p>
        </p:txBody>
      </p:sp>
    </p:spTree>
    <p:extLst>
      <p:ext uri="{BB962C8B-B14F-4D97-AF65-F5344CB8AC3E}">
        <p14:creationId xmlns:p14="http://schemas.microsoft.com/office/powerpoint/2010/main" val="11325794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kicker">
            <a:extLst xmlns:a="http://schemas.openxmlformats.org/drawingml/2006/main">
              <a:ext uri="{FF2B5EF4-FFF2-40B4-BE49-F238E27FC236}">
                <a16:creationId xmlns:a16="http://schemas.microsoft.com/office/drawing/2014/main" id="{B25E5950-0364-48BF-AF5C-FF72B3AA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КОНЦЕПТ ИНТЕРФЕЙСА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D91D287-C9E9-400C-AAF9-D8420F90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Три экрана показывают весь MVP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6572F7CC-A12A-4986-9465-25BAFB1A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069796F-3387-4D0F-A0C0-8E6CBC02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59672B47-28AA-46E5-9318-7514AD9A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81150"/>
            <a:ext cx="2895600" cy="4533900"/>
          </a:xfrm>
          <a:prstGeom xmlns:a="http://schemas.openxmlformats.org/drawingml/2006/main" prst="roundRect">
            <a:avLst>
              <a:gd name="adj" fmla="val 11184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9A1DA5D1-56FB-4271-A238-04CB8CED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2667000" cy="4305300"/>
          </a:xfrm>
          <a:prstGeom xmlns:a="http://schemas.openxmlformats.org/drawingml/2006/main" prst="roundRect">
            <a:avLst>
              <a:gd name="adj" fmla="val 9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">
            <a:extLst xmlns:a="http://schemas.openxmlformats.org/drawingml/2006/main">
              <a:ext uri="{FF2B5EF4-FFF2-40B4-BE49-F238E27FC236}">
                <a16:creationId xmlns:a16="http://schemas.microsoft.com/office/drawing/2014/main" id="{F2933656-A4F7-427F-AD9F-075E0D4F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90700"/>
            <a:ext cx="8763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5F2C312-F4C4-471A-9B7A-A50280DB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Маршрут</a:t>
            </a:r>
          </a:p>
        </p:txBody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AB1E3E67-9C5C-47D1-BA0A-604362F6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581150"/>
            <a:ext cx="2895600" cy="4533900"/>
          </a:xfrm>
          <a:prstGeom xmlns:a="http://schemas.openxmlformats.org/drawingml/2006/main" prst="roundRect">
            <a:avLst>
              <a:gd name="adj" fmla="val 11184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A7C59BD7-83D2-4FC5-A431-28EF5E44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95450"/>
            <a:ext cx="2667000" cy="4305300"/>
          </a:xfrm>
          <a:prstGeom xmlns:a="http://schemas.openxmlformats.org/drawingml/2006/main" prst="roundRect">
            <a:avLst>
              <a:gd name="adj" fmla="val 9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803ABEA8-B880-4C35-92FA-ACB88B4D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90700"/>
            <a:ext cx="8763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F71D152-696B-4AA8-BD85-A8EC1711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Персонаж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0D16210B-105D-4291-B975-E754C7EA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81150"/>
            <a:ext cx="2895600" cy="4533900"/>
          </a:xfrm>
          <a:prstGeom xmlns:a="http://schemas.openxmlformats.org/drawingml/2006/main" prst="roundRect">
            <a:avLst>
              <a:gd name="adj" fmla="val 11184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45D54EEF-8891-496E-AD7D-2FBF6030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95450"/>
            <a:ext cx="2667000" cy="4305300"/>
          </a:xfrm>
          <a:prstGeom xmlns:a="http://schemas.openxmlformats.org/drawingml/2006/main" prst="roundRect">
            <a:avLst>
              <a:gd name="adj" fmla="val 9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">
            <a:extLst xmlns:a="http://schemas.openxmlformats.org/drawingml/2006/main">
              <a:ext uri="{FF2B5EF4-FFF2-40B4-BE49-F238E27FC236}">
                <a16:creationId xmlns:a16="http://schemas.microsoft.com/office/drawing/2014/main" id="{AA03427F-F836-4AA0-AF88-9E298E67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90700"/>
            <a:ext cx="8763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1A19539-F02D-4F2A-8302-9CECEDC5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33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Рюкзак</a:t>
            </a:r>
          </a:p>
        </p:txBody>
      </p:sp>
      <p:sp>
        <p:nvSpPr>
          <p:cNvPr id="17" name="circle">
            <a:extLst xmlns:a="http://schemas.openxmlformats.org/drawingml/2006/main">
              <a:ext uri="{FF2B5EF4-FFF2-40B4-BE49-F238E27FC236}">
                <a16:creationId xmlns:a16="http://schemas.microsoft.com/office/drawing/2014/main" id="{85DEB555-0AC9-4A61-B577-1267739B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2415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4D9D5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D9D54"/>
                </a:solidFill>
                <a:latin typeface="Arial"/>
                <a:ea typeface="Arial"/>
                <a:cs typeface="Arial"/>
              </a:rPr>
              <a:t>1 / 1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D164420-C4D0-4191-A7BB-C1192DD1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100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Один визит до приза</a:t>
            </a:r>
          </a:p>
        </p:txBody>
      </p:sp>
      <p:sp>
        <p:nvSpPr>
          <p:cNvPr id="19" name="rect">
            <a:extLst xmlns:a="http://schemas.openxmlformats.org/drawingml/2006/main">
              <a:ext uri="{FF2B5EF4-FFF2-40B4-BE49-F238E27FC236}">
                <a16:creationId xmlns:a16="http://schemas.microsoft.com/office/drawing/2014/main" id="{CAE40377-C9D5-433D-B41B-4EB3CEFF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10100"/>
            <a:ext cx="22098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DEEA6D7F-74D8-4DF5-8634-0620E947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10100"/>
            <a:ext cx="15811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2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C3E4677-B0A5-4C6D-81FF-22583075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4825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Кофе выбран</a:t>
            </a:r>
          </a:p>
        </p:txBody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8C885C25-2FBD-4C9F-8D8D-284710CC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86050"/>
            <a:ext cx="1943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EAF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6CCDC21-63F8-4AF6-8A5B-D2E95A14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14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D9D5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9D54"/>
                </a:solidFill>
                <a:latin typeface="Arial"/>
                <a:ea typeface="Arial"/>
                <a:cs typeface="Arial"/>
              </a:rPr>
              <a:t>LV 2 · +куртка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BFFB9CD-0F4D-46CD-B571-E7CDB352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29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До нового уровня</a:t>
            </a:r>
          </a:p>
        </p:txBody>
      </p:sp>
      <p:sp>
        <p:nvSpPr>
          <p:cNvPr id="25" name="rect">
            <a:extLst xmlns:a="http://schemas.openxmlformats.org/drawingml/2006/main">
              <a:ext uri="{FF2B5EF4-FFF2-40B4-BE49-F238E27FC236}">
                <a16:creationId xmlns:a16="http://schemas.microsoft.com/office/drawing/2014/main" id="{E627027D-9B82-44EE-8A15-910A7AF8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48150"/>
            <a:ext cx="2095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C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D4FF4D4-582B-4FBE-BD79-92D156FB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00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Остался 1 маршрут</a:t>
            </a:r>
          </a:p>
        </p:txBody>
      </p:sp>
      <p:sp>
        <p:nvSpPr>
          <p:cNvPr id="27" name="rect">
            <a:extLst xmlns:a="http://schemas.openxmlformats.org/drawingml/2006/main">
              <a:ext uri="{FF2B5EF4-FFF2-40B4-BE49-F238E27FC236}">
                <a16:creationId xmlns:a16="http://schemas.microsoft.com/office/drawing/2014/main" id="{912352EF-A4F8-42A7-8199-ADD7FBA0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29200"/>
            <a:ext cx="2095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AEF3E85-77BD-4B3E-BC2F-C6EE329D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81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Экономия 340 ₽/мес</a:t>
            </a:r>
          </a:p>
        </p:txBody>
      </p:sp>
      <p:sp>
        <p:nvSpPr>
          <p:cNvPr id="29" name="circle">
            <a:extLst xmlns:a="http://schemas.openxmlformats.org/drawingml/2006/main">
              <a:ext uri="{FF2B5EF4-FFF2-40B4-BE49-F238E27FC236}">
                <a16:creationId xmlns:a16="http://schemas.microsoft.com/office/drawing/2014/main" id="{EED30B8D-8068-464A-94B7-7F5CA0D3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2A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</a:t>
            </a:r>
          </a:p>
        </p:txBody>
      </p:sp>
      <p:sp>
        <p:nvSpPr>
          <p:cNvPr id="30" name="circle">
            <a:extLst xmlns:a="http://schemas.openxmlformats.org/drawingml/2006/main">
              <a:ext uri="{FF2B5EF4-FFF2-40B4-BE49-F238E27FC236}">
                <a16:creationId xmlns:a16="http://schemas.microsoft.com/office/drawing/2014/main" id="{F478F7DB-8FFD-4591-8D83-3A93C817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D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Й</a:t>
            </a:r>
          </a:p>
        </p:txBody>
      </p:sp>
      <p:sp>
        <p:nvSpPr>
          <p:cNvPr id="31" name="circle">
            <a:extLst xmlns:a="http://schemas.openxmlformats.org/drawingml/2006/main">
              <a:ext uri="{FF2B5EF4-FFF2-40B4-BE49-F238E27FC236}">
                <a16:creationId xmlns:a16="http://schemas.microsoft.com/office/drawing/2014/main" id="{EECEB411-EE8E-40C4-AC8D-FA5A7D5A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24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Кр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2F385939-2C8F-454A-810A-2B4C7D94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76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Цифровой приз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F8B53DA6-3F12-4D33-A2EC-ACCB8537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Кофе ждёт на кассе</a:t>
            </a:r>
          </a:p>
        </p:txBody>
      </p:sp>
      <p:sp>
        <p:nvSpPr>
          <p:cNvPr id="34" name="rect">
            <a:extLst xmlns:a="http://schemas.openxmlformats.org/drawingml/2006/main">
              <a:ext uri="{FF2B5EF4-FFF2-40B4-BE49-F238E27FC236}">
                <a16:creationId xmlns:a16="http://schemas.microsoft.com/office/drawing/2014/main" id="{846FCCDC-D654-4E1B-9138-70B0DDF7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14850"/>
            <a:ext cx="2095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rect">
            <a:extLst xmlns:a="http://schemas.openxmlformats.org/drawingml/2006/main">
              <a:ext uri="{FF2B5EF4-FFF2-40B4-BE49-F238E27FC236}">
                <a16:creationId xmlns:a16="http://schemas.microsoft.com/office/drawing/2014/main" id="{903368B4-F879-42F0-9869-D2FC5AF4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14850"/>
            <a:ext cx="13525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9D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C1260C65-4533-4685-AED7-A127B3F5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33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D9D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D9D54"/>
                </a:solidFill>
                <a:latin typeface="Arial"/>
                <a:ea typeface="Arial"/>
                <a:cs typeface="Arial"/>
              </a:rPr>
              <a:t>Забрать после визита</a:t>
            </a:r>
          </a:p>
        </p:txBody>
      </p:sp>
    </p:spTree>
    <p:extLst>
      <p:ext uri="{BB962C8B-B14F-4D97-AF65-F5344CB8AC3E}">
        <p14:creationId xmlns:p14="http://schemas.microsoft.com/office/powerpoint/2010/main" val="13173954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7348C9C6-3804-49BD-9C40-ED373DBA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ТЕКУЩЕЕ СОСТОЯНИЕ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C276D1-EDB6-4E41-94E0-6AC7C28C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Концепция собрана; первые сигналы изменили MVP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A9AD8973-CF23-454E-9901-E1633F91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EAC27C3-3E9E-4AAF-8784-79C1DF74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DCC47E5F-A061-43BC-AA8B-CACBEB01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219700" cy="4000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AF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DAABBCD-9188-4336-A78F-66C053E5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4D9D5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D9D54"/>
                </a:solidFill>
                <a:latin typeface="Arial"/>
                <a:ea typeface="Arial"/>
                <a:cs typeface="Arial"/>
              </a:rPr>
              <a:t>Уже сделано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C6DF1C6-898A-4992-8E9D-ECCCEFCD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4286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✓ разобран кейс и Q&amp;A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✓ изучены X5 и зарубежные паттерны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✓ выбран цикл из двух чеков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✓ задана логика Recsys + LLM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✓ собран каркас экономики наград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✓ спроектированы три экрана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9BB33861-B925-48C6-AC14-E1735618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5600700" cy="4000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4FCA87E-38F9-4FD2-9AF9-19C6EFF6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56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56B00"/>
                </a:solidFill>
                <a:latin typeface="Arial"/>
                <a:ea typeface="Arial"/>
                <a:cs typeface="Arial"/>
              </a:rPr>
              <a:t>Что уже узнали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B0D71B6-661A-4212-8249-4BFB37DA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n=1: нужен быстрый ощутимый приз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колесо — reveal, а не ценность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голосование воспринимается сложным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главный риск — награда за organic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своя награда не окупается — платит бренд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дальше: 5–7 интервью и тест</a:t>
            </a:r>
          </a:p>
        </p:txBody>
      </p:sp>
    </p:spTree>
    <p:extLst>
      <p:ext uri="{BB962C8B-B14F-4D97-AF65-F5344CB8AC3E}">
        <p14:creationId xmlns:p14="http://schemas.microsoft.com/office/powerpoint/2010/main" val="2243724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5327A911-DA57-46E6-BCA9-74F6BB73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РИСКИ И ОТВЕТЫ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EF1EF2-C5B3-4A28-BF64-F59F5172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Ключевые риски проверяются внутри MVP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5EB35880-4C47-4AEE-958C-0DC82314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9BC5252-8C75-44A2-B796-0E5C9311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ADC339D-B376-476E-8BCD-3000C1A0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Риск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2A4F7C9-4AFC-4580-A99F-37BE50E7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Как снижаем</a:t>
            </a:r>
          </a:p>
        </p:txBody>
      </p:sp>
      <p:sp>
        <p:nvSpPr>
          <p:cNvPr id="7" name="rect">
            <a:extLst xmlns:a="http://schemas.openxmlformats.org/drawingml/2006/main">
              <a:ext uri="{FF2B5EF4-FFF2-40B4-BE49-F238E27FC236}">
                <a16:creationId xmlns:a16="http://schemas.microsoft.com/office/drawing/2014/main" id="{3217B0FA-2A3F-4CB7-A7A1-7B1835D9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1125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82A49D5-B85B-43BF-9EAE-31A87760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Награда съедает маржу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446C080-E63D-4120-AF2C-5DAF3A03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86000"/>
            <a:ext cx="706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Приз финансирует поставщик; своя маржа — только цифровой дроп. Плюс EV-фильтр и no_action.</a:t>
            </a:r>
          </a:p>
        </p:txBody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1A5144B0-F064-4B46-980E-B713C96B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11125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0701CB0-88C8-41B1-A1AC-0F028739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Субсидируем обычный визит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CDC84CB-9209-4357-A2AD-DCB56AE9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706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Сравниваем с reward-only при одинаковом бюджете и оцениваем baseline.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6CEA01EF-A4B8-4448-AA4F-F9A4B97C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11125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F426E5D-8987-4107-928F-8F505690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Чек дробят ради приза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29465D7-6CD5-4468-BF37-91B80CE8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71900"/>
            <a:ext cx="706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Другой день, cooldown, один цикл, device/payment score.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50E35269-6B61-40A2-AABE-5E1BED5A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11125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C0B883A-9077-4BED-B692-29DCAA3F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LLM выдумывает условие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A51F30D-EC86-41FE-8B7A-19EA76C1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14850"/>
            <a:ext cx="706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LLM видит только JSON; SKU, цены и правила задаёт движок.</a:t>
            </a:r>
          </a:p>
        </p:txBody>
      </p:sp>
      <p:sp>
        <p:nvSpPr>
          <p:cNvPr id="19" name="rect">
            <a:extLst xmlns:a="http://schemas.openxmlformats.org/drawingml/2006/main">
              <a:ext uri="{FF2B5EF4-FFF2-40B4-BE49-F238E27FC236}">
                <a16:creationId xmlns:a16="http://schemas.microsoft.com/office/drawing/2014/main" id="{098710BC-D6CE-4246-8C30-B863F228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11125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DB51B7C-F81C-42B3-BDBE-054A0F5B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Игра растит MAU, не покупки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D180775-96D2-4A87-9CEB-59A3D1E3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57800"/>
            <a:ext cx="706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Покупочные недели за 4 недели плюс замер 4 недель после снятия механики; app MAU вторична.</a:t>
            </a:r>
          </a:p>
        </p:txBody>
      </p:sp>
    </p:spTree>
    <p:extLst>
      <p:ext uri="{BB962C8B-B14F-4D97-AF65-F5344CB8AC3E}">
        <p14:creationId xmlns:p14="http://schemas.microsoft.com/office/powerpoint/2010/main" val="19472584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1075F359-AC2E-4408-9FF2-66930CC8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ПЛАН РАБОТ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C308E3A-AE1F-443D-9FB6-61B24572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До финала проверяем механику, модель и экономику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4BA46723-4F5D-44BC-ABCC-6776758E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3C798B6-358D-4924-9013-D0A84B4A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line">
            <a:extLst xmlns:a="http://schemas.openxmlformats.org/drawingml/2006/main">
              <a:ext uri="{FF2B5EF4-FFF2-40B4-BE49-F238E27FC236}">
                <a16:creationId xmlns:a16="http://schemas.microsoft.com/office/drawing/2014/main" id="{F44A6EF3-A437-4FE2-9233-6C581B1D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7AA7BE90-915E-4E57-8D2D-6D80FE62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34290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4719A47-45D9-4E25-B8EB-91D27398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1. Зафиксировать MVP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AEFE5DF-D356-4171-A38E-D09D75EC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2895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5–7 интервью, тест трёх призов и одного визита, правила reward и no_action.</a:t>
            </a:r>
          </a:p>
        </p:txBody>
      </p:sp>
      <p:sp>
        <p:nvSpPr>
          <p:cNvPr id="9" name="circle">
            <a:extLst xmlns:a="http://schemas.openxmlformats.org/drawingml/2006/main">
              <a:ext uri="{FF2B5EF4-FFF2-40B4-BE49-F238E27FC236}">
                <a16:creationId xmlns:a16="http://schemas.microsoft.com/office/drawing/2014/main" id="{656C4E8E-392A-47B9-B90D-500C8FC4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2A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7BD2ABA-6B22-4D84-A80A-73AB4B44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03–04.09</a:t>
            </a:r>
          </a:p>
        </p:txBody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A38300AD-DB71-411A-92B8-01A182D7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63CFC4A-6BE8-4363-9A0A-334CFEFE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9550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2. Собрать proof of concept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BED886C-1BDB-4157-89CA-3C9B1CB1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9900"/>
            <a:ext cx="2895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3–4 экрана, Recsys + LLM на синтетике, прогресс героя и антифрод.</a:t>
            </a:r>
          </a:p>
        </p:txBody>
      </p:sp>
      <p:sp>
        <p:nvSpPr>
          <p:cNvPr id="14" name="circle">
            <a:extLst xmlns:a="http://schemas.openxmlformats.org/drawingml/2006/main">
              <a:ext uri="{FF2B5EF4-FFF2-40B4-BE49-F238E27FC236}">
                <a16:creationId xmlns:a16="http://schemas.microsoft.com/office/drawing/2014/main" id="{BB811C79-716E-4864-9028-0A5FFCAA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95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2A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C3FF02D-07A2-4FD1-AD9D-C0D62D75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76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Следующий спринт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02F2726D-5E87-48FB-980D-B63E6F71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4290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EAF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D89672B-982D-48BC-917A-59379ABB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4D9D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D9D54"/>
                </a:solidFill>
                <a:latin typeface="Arial"/>
                <a:ea typeface="Arial"/>
                <a:cs typeface="Arial"/>
              </a:rPr>
              <a:t>3. Доказать готовность к пилоту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D499358-62E4-41B2-BC60-ED41BA54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9900"/>
            <a:ext cx="2895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Симуляция 1–10 тыс. профилей, 4 группы, карта безубыточности и 90-секундное демо.</a:t>
            </a:r>
          </a:p>
        </p:txBody>
      </p:sp>
      <p:sp>
        <p:nvSpPr>
          <p:cNvPr id="19" name="circle">
            <a:extLst xmlns:a="http://schemas.openxmlformats.org/drawingml/2006/main">
              <a:ext uri="{FF2B5EF4-FFF2-40B4-BE49-F238E27FC236}">
                <a16:creationId xmlns:a16="http://schemas.microsoft.com/office/drawing/2014/main" id="{2305AFD1-9E56-436C-B957-64544381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95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D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AD313B9-EB2D-4002-BBA6-27F836E7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676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D9D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D9D54"/>
                </a:solidFill>
                <a:latin typeface="Arial"/>
                <a:ea typeface="Arial"/>
                <a:cs typeface="Arial"/>
              </a:rPr>
              <a:t>До финальной защиты</a:t>
            </a:r>
          </a:p>
        </p:txBody>
      </p:sp>
    </p:spTree>
    <p:extLst>
      <p:ext uri="{BB962C8B-B14F-4D97-AF65-F5344CB8AC3E}">
        <p14:creationId xmlns:p14="http://schemas.microsoft.com/office/powerpoint/2010/main" val="1152601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kicker">
            <a:extLst xmlns:a="http://schemas.openxmlformats.org/drawingml/2006/main">
              <a:ext uri="{FF2B5EF4-FFF2-40B4-BE49-F238E27FC236}">
                <a16:creationId xmlns:a16="http://schemas.microsoft.com/office/drawing/2014/main" id="{0D3ADD06-530C-41B0-AA6F-DD40E083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УЧАСТНИКИ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0F2541-575A-47DC-9D7F-CCE5B50C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Команда: роли, ответственность и участие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297A05AB-A952-4970-BC7D-ECF089BE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95A54C9-DA81-40EA-8B02-703A1ACC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DF3D185-AF03-4B33-83B7-9C5EC431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3 участника: 1 AI Product + 2 AI Engineer, все 1 курс. Степень участия подтвердить перед отправкой.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7F04765-AD6F-413C-BF6C-51F734D6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Участник / роль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61E2458-B84C-4EEE-8E28-7BE9608C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76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Зона ответственности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620BA6D-D7F6-4854-90FC-090D33C9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764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Рабочий фокус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1D7B124-EA63-458B-B095-A8EC13C8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76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Участие</a:t>
            </a:r>
          </a:p>
        </p:txBody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5750267A-CE67-4C05-8B82-8F117A3D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11125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547CF60-16F8-4E15-8E2E-73987DC1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Вербицкий Артемий Андреевич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AI Product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44EE792-55C7-4A15-998D-453C005B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908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Гипотеза, MVP, метрики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1E9ABC0-1425-4C08-9299-52824F4E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908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JTBD, экономика, эксперимент и материалы</a:t>
            </a:r>
          </a:p>
        </p:txBody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B210DD69-5C1A-4BEA-BF94-A751F863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62225"/>
            <a:ext cx="1619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C794591-C5FD-4BB7-9750-591D6F5E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4795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[указать]</a:t>
            </a:r>
          </a:p>
        </p:txBody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97100CB3-C6BC-4E23-9257-A055BC44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11125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BADA095-76FC-4E2B-B8F9-2232004F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Гуреева Мария Дмитриевна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AI Engineer · Recsys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D8C4430-95CB-4C74-B1E4-89921D0B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386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Данные, ranking, eval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DB3B2E2-DAE1-42D5-BF17-7CA78BAC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386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Кандидаты, no_action, оценка и симуляция</a:t>
            </a:r>
          </a:p>
        </p:txBody>
      </p:sp>
      <p:sp>
        <p:nvSpPr>
          <p:cNvPr id="26" name="rect">
            <a:extLst xmlns:a="http://schemas.openxmlformats.org/drawingml/2006/main">
              <a:ext uri="{FF2B5EF4-FFF2-40B4-BE49-F238E27FC236}">
                <a16:creationId xmlns:a16="http://schemas.microsoft.com/office/drawing/2014/main" id="{026D6B03-CABB-4105-A5D0-D10A9BA0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10025"/>
            <a:ext cx="1619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48D11F2-A7EE-43C3-BE17-2FC2490D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9575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[указать]</a:t>
            </a:r>
          </a:p>
        </p:txBody>
      </p:sp>
      <p:sp>
        <p:nvSpPr>
          <p:cNvPr id="34" name="rect">
            <a:extLst xmlns:a="http://schemas.openxmlformats.org/drawingml/2006/main">
              <a:ext uri="{FF2B5EF4-FFF2-40B4-BE49-F238E27FC236}">
                <a16:creationId xmlns:a16="http://schemas.microsoft.com/office/drawing/2014/main" id="{87D781D6-5E97-46BC-B5DB-47002A52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518D4D2F-0BE8-4A95-976A-292F8F07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Зоринов Григорий Алексеевич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AI Engineer · LLM / App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A6179E96-71A0-42F9-8145-2B6025FC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4864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LLM, state, antifraud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59DD1DAB-953C-4A5E-BD51-1D01C155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4864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Grounding, validator, прогресс и демо</a:t>
            </a:r>
          </a:p>
        </p:txBody>
      </p:sp>
      <p:sp>
        <p:nvSpPr>
          <p:cNvPr id="38" name="rect">
            <a:extLst xmlns:a="http://schemas.openxmlformats.org/drawingml/2006/main">
              <a:ext uri="{FF2B5EF4-FFF2-40B4-BE49-F238E27FC236}">
                <a16:creationId xmlns:a16="http://schemas.microsoft.com/office/drawing/2014/main" id="{9583686D-FE11-4FE8-A5A4-488AA6C9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57825"/>
            <a:ext cx="1619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6B073F04-A678-45EA-B156-570074C8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4355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[указать]</a:t>
            </a:r>
          </a:p>
        </p:txBody>
      </p:sp>
    </p:spTree>
    <p:extLst>
      <p:ext uri="{BB962C8B-B14F-4D97-AF65-F5344CB8AC3E}">
        <p14:creationId xmlns:p14="http://schemas.microsoft.com/office/powerpoint/2010/main" val="6001860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19662F96-5E5C-4793-8039-0FAE21CE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E5F97A8-A8DF-4D32-9E4C-165FCD79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X5 Чекпоинт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5071274-E4AE-4B2A-A24A-000CA15C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942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E8E8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E8E8"/>
                </a:solidFill>
                <a:latin typeface="Arial"/>
                <a:ea typeface="Arial"/>
                <a:cs typeface="Arial"/>
              </a:rPr>
              <a:t>Не очеловечиваем корпорацию и не просим играть месяц: чек открывает приз, один следующий визит завершает забег.</a:t>
            </a:r>
          </a:p>
        </p:txBody>
      </p:sp>
      <p:sp>
        <p:nvSpPr>
          <p:cNvPr id="4" name="line">
            <a:extLst xmlns:a="http://schemas.openxmlformats.org/drawingml/2006/main">
              <a:ext uri="{FF2B5EF4-FFF2-40B4-BE49-F238E27FC236}">
                <a16:creationId xmlns:a16="http://schemas.microsoft.com/office/drawing/2014/main" id="{46F208A6-EA9B-4968-BF5A-37BBFBCE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42A2D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AF605B8-F0B2-45DF-BCFD-DAE862E5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3028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Быстрая ценность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16975EF-7810-41E0-9D0F-EF393394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FC3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C3C7"/>
                </a:solidFill>
                <a:latin typeface="Arial"/>
                <a:ea typeface="Arial"/>
                <a:cs typeface="Arial"/>
              </a:rPr>
              <a:t>Релевантный приз виден сразу; проигрышных секторов нет.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B3884B85-5106-4D57-B407-C7DD9A17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4D9D5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931B715-6223-4C3F-9E35-9F258216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52850"/>
            <a:ext cx="3028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Управляемая экономика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5436455-3208-487B-9034-D8933330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8625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FC3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C3C7"/>
                </a:solidFill>
                <a:latin typeface="Arial"/>
                <a:ea typeface="Arial"/>
                <a:cs typeface="Arial"/>
              </a:rPr>
              <a:t>Приз платит бренд; Recsys выбирает положительный по EV маршрут или no_action.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B9C34FA7-5B22-4C8F-A92B-C5C66B95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D8DF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15C5C51-9C7A-47C2-AEC1-B3394B24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028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Причина вернуться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947EC45-8718-4F9F-876A-2134A7EE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FC3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C3C7"/>
                </a:solidFill>
                <a:latin typeface="Arial"/>
                <a:ea typeface="Arial"/>
                <a:cs typeface="Arial"/>
              </a:rPr>
              <a:t>Персонаж, рюкзак и короткий путь связывают два визита.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F4BE18A1-1E80-4F87-9B1D-3BBB203E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58293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0E9777B-8A21-49F4-8A7A-661D2A08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24525"/>
            <a:ext cx="541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87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Следующий шаг: MVP + 5–7 интервью + симуляция 1–10 тыс. профилей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2343AA9-9FF7-4D91-A485-9A9F0400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A8ADB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8ADB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628811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2026-09-03T20:55:32.4610000Z</dcterms:created>
  <dcterms:modified xsi:type="dcterms:W3CDTF">2026-09-03T20:55:32.4610000Z</dcterms:modified>
</coreProperties>
</file>