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4" r:id="rId5"/>
    <p:sldId id="266" r:id="rId6"/>
    <p:sldId id="268" r:id="rId7"/>
    <p:sldId id="27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23"/>
    <p:restoredTop sz="94656"/>
  </p:normalViewPr>
  <p:slideViewPr>
    <p:cSldViewPr snapToGrid="0">
      <p:cViewPr varScale="1">
        <p:scale>
          <a:sx n="110" d="100"/>
          <a:sy n="110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Открываем с одной фразы: это короткий маршрут от текущего чека до одного следующего визита.</a:t>
            </a:r>
          </a:p>
          <a:p>
            <a:endParaRPr/>
          </a:p>
          <a:p>
            <a:r>
              <a:t>[Sources]</a:t>
            </a:r>
          </a:p>
          <a:p>
            <a:r>
              <a:t>- Retained title illustration from the user-supplied deck; the original deck note states it was generated with OpenAI image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Прошлые игры X5 были длинными, а награды воспринимались как слабые — это исходное ограничение продукта, а не наш вывод из синтетики.</a:t>
            </a:r>
          </a:p>
          <a:p>
            <a:endParaRPr/>
          </a:p>
          <a:p>
            <a:r>
              <a:t>[Sources]</a:t>
            </a:r>
          </a:p>
          <a:p>
            <a:r>
              <a:t>- X5 case description and case-owner Q&amp;A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Главное изменение: текущий чек уже даёт стартовый прогресс; путь не начинается с нуля.</a:t>
            </a:r>
          </a:p>
          <a:p>
            <a:endParaRPr/>
          </a:p>
          <a:p>
            <a:r>
              <a:t>[Sources]</a:t>
            </a:r>
          </a:p>
          <a:p>
            <a:r>
              <a:t>- Goal-gradient study: https://journals.sagepub.com/doi/abs/10.1509/jmkr.43.1.39</a:t>
            </a:r>
          </a:p>
          <a:p>
            <a:r>
              <a:t>- Endowed progress effect: https://papers.ssrn.com/sol3/papers.cfm?abstract_id=991962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Recsys отвечает за допустимость и ожидаемый эффект. LLM только формулирует объяснение из безопасного JSON.</a:t>
            </a:r>
          </a:p>
          <a:p>
            <a:endParaRPr/>
          </a:p>
          <a:p>
            <a:r>
              <a:t>[Sources]</a:t>
            </a:r>
          </a:p>
          <a:p>
            <a:r>
              <a:t>- Profit-aware targeting: https://pubsonline.informs.org/doi/10.1287/mksc.2020.1229</a:t>
            </a:r>
          </a:p>
          <a:p>
            <a:r>
              <a:t>- X5 case requirements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Единственный первичный сигнал пока n=1; он изменил направление, но не подтверждает спрос.</a:t>
            </a:r>
          </a:p>
          <a:p>
            <a:endParaRPr/>
          </a:p>
          <a:p>
            <a:r>
              <a:t>[Sources]</a:t>
            </a:r>
          </a:p>
          <a:p>
            <a:r>
              <a:t>- Team interview note supplied by the user, 03.09.2026. Sample size: n=1.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пилоте нужны четыре группы с одинаковым reward budget: BAU; generic wheel; personalized reward-only; full Checkpoint.</a:t>
            </a:r>
          </a:p>
          <a:p>
            <a:endParaRPr/>
          </a:p>
          <a:p>
            <a:r>
              <a:t>[Sources]</a:t>
            </a:r>
          </a:p>
          <a:p>
            <a:r>
              <a:t>- X5 expected proof-of-concept and target metric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Финальный тезис: мы проверяем добавочную ценность игры отдельно от ценности самого приза.</a:t>
            </a:r>
          </a:p>
          <a:p>
            <a:endParaRPr/>
          </a:p>
          <a:p>
            <a:r>
              <a:t>[Sources]</a:t>
            </a:r>
          </a:p>
          <a:p>
            <a:r>
              <a:t>- Product synthesis based on the case materials and cited research in slides 2, 4, 6, and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x5_profile.png"/><Relationship Id="rId4" Type="http://schemas.openxmlformats.org/officeDocument/2006/relationships/image" Target="../media/x5_box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x5_challenge.png"/><Relationship Id="rId4" Type="http://schemas.openxmlformats.org/officeDocument/2006/relationships/image" Target="../media/x5_reward.png"/><Relationship Id="rId5" Type="http://schemas.openxmlformats.org/officeDocument/2006/relationships/image" Target="../media/x5_inventory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x5_economics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 pill"/>
          <p:cNvSpPr txBox="1"/>
          <p:nvPr/>
        </p:nvSpPr>
        <p:spPr>
          <a:xfrm>
            <a:off x="502920" y="310896"/>
            <a:ext cx="2148840" cy="347472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DEMO DAY · X5</a:t>
            </a:r>
            <a:endParaRPr lang="ru-RU"/>
          </a:p>
        </p:txBody>
      </p:sp>
      <p:sp>
        <p:nvSpPr>
          <p:cNvPr id="3" name="Title"/>
          <p:cNvSpPr txBox="1"/>
          <p:nvPr/>
        </p:nvSpPr>
        <p:spPr>
          <a:xfrm>
            <a:off x="502920" y="960120"/>
            <a:ext cx="5577840" cy="111556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3400" dirty="0" b="1">
                <a:solidFill>
                  <a:srgbClr val="1B1F23"/>
                </a:solidFill>
                <a:latin typeface="Arial"/>
                <a:cs typeface="Arial"/>
              </a:rPr>
              <a:t>X5 Чекпоинт</a:t>
            </a:r>
            <a:endParaRPr lang="ru-RU"/>
          </a:p>
          <a:p>
            <a:pPr algn="l" lvl="0" marB="0"/>
            <a:r>
              <a:rPr lang="ru-RU" sz="2500" dirty="0" b="1">
                <a:solidFill>
                  <a:srgbClr val="159447"/>
                </a:solidFill>
                <a:latin typeface="Arial"/>
                <a:cs typeface="Arial"/>
              </a:rPr>
              <a:t>Собирай свою выгоду</a:t>
            </a:r>
            <a:endParaRPr lang="ru-RU"/>
          </a:p>
        </p:txBody>
      </p:sp>
      <p:sp>
        <p:nvSpPr>
          <p:cNvPr id="4" name="Lead"/>
          <p:cNvSpPr txBox="1"/>
          <p:nvPr/>
        </p:nvSpPr>
        <p:spPr>
          <a:xfrm>
            <a:off x="530352" y="2331720"/>
            <a:ext cx="5257800" cy="12344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800" dirty="0">
                <a:solidFill>
                  <a:srgbClr val="666D70"/>
                </a:solidFill>
                <a:latin typeface="Arial"/>
                <a:cs typeface="Arial"/>
              </a:rPr>
              <a:t>Игра для пользователей приложения с нерегулярными визитами:</a:t>
            </a:r>
            <a:endParaRPr lang="ru-RU"/>
          </a:p>
          <a:p>
            <a:pPr algn="l" lvl="0" marB="0"/>
            <a:r>
              <a:rPr lang="ru-RU" sz="2100" dirty="0" b="1">
                <a:solidFill>
                  <a:srgbClr val="1B1F23"/>
                </a:solidFill>
                <a:latin typeface="Arial"/>
                <a:cs typeface="Arial"/>
              </a:rPr>
              <a:t>покупка становится прогрессом к выбранной выгоде.</a:t>
            </a:r>
            <a:endParaRPr lang="ru-RU"/>
          </a:p>
        </p:txBody>
      </p:sp>
      <p:sp>
        <p:nvSpPr>
          <p:cNvPr id="5" name="Flow"/>
          <p:cNvSpPr txBox="1"/>
          <p:nvPr/>
        </p:nvSpPr>
        <p:spPr>
          <a:xfrm>
            <a:off x="502920" y="3977640"/>
            <a:ext cx="5230368" cy="987552"/>
          </a:xfrm>
          <a:prstGeom prst="roundRect">
            <a:avLst/>
          </a:prstGeom>
          <a:solidFill>
            <a:srgbClr val="E7F4EA"/>
          </a:solidFill>
          <a:ln w="12700">
            <a:solidFill>
              <a:srgbClr val="159447"/>
            </a:solidFill>
            <a:prstDash val="solid"/>
          </a:ln>
        </p:spPr>
        <p:txBody>
          <a:bodyPr wrap="square" anchor="ctr" lIns="109728" tIns="109728" rIns="109728" bIns="91440"/>
          <a:lstStyle/>
          <a:p>
            <a:pPr algn="ctr" lvl="0" marB="0"/>
            <a:r>
              <a:rPr lang="ru-RU" sz="2000" dirty="0" b="1">
                <a:solidFill>
                  <a:srgbClr val="159447"/>
                </a:solidFill>
                <a:latin typeface="Arial"/>
                <a:cs typeface="Arial"/>
              </a:rPr>
              <a:t>Покупка → коробка → предмет</a:t>
            </a:r>
            <a:endParaRPr lang="ru-RU"/>
          </a:p>
          <a:p>
            <a:pPr algn="ctr" lvl="0" marB="0"/>
            <a:r>
              <a:rPr lang="ru-RU" sz="1700" dirty="0" b="1">
                <a:solidFill>
                  <a:srgbClr val="1B1F23"/>
                </a:solidFill>
                <a:latin typeface="Arial"/>
                <a:cs typeface="Arial"/>
              </a:rPr>
              <a:t>4 предмета → скидка 8%</a:t>
            </a:r>
            <a:endParaRPr lang="ru-RU"/>
          </a:p>
        </p:txBody>
      </p:sp>
      <p:sp>
        <p:nvSpPr>
          <p:cNvPr id="6" name="Team"/>
          <p:cNvSpPr txBox="1"/>
          <p:nvPr/>
        </p:nvSpPr>
        <p:spPr>
          <a:xfrm>
            <a:off x="530352" y="6263640"/>
            <a:ext cx="512064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200" dirty="0">
                <a:solidFill>
                  <a:srgbClr val="666D70"/>
                </a:solidFill>
                <a:latin typeface="Arial"/>
                <a:cs typeface="Arial"/>
              </a:rPr>
              <a:t>Артемий · Григорий · Мария</a:t>
            </a:r>
            <a:endParaRPr lang="ru-RU"/>
          </a:p>
        </p:txBody>
      </p:sp>
      <p:pic>
        <p:nvPicPr>
          <p:cNvPr id="7" name="Profile 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84048"/>
            <a:ext cx="5376672" cy="2944368"/>
          </a:xfrm>
          <a:prstGeom prst="roundRect">
            <a:avLst/>
          </a:prstGeom>
          <a:ln w="19050">
            <a:solidFill>
              <a:srgbClr val="ECEAE5"/>
            </a:solidFill>
            <a:prstDash val="solid"/>
          </a:ln>
        </p:spPr>
      </p:pic>
      <p:pic>
        <p:nvPicPr>
          <p:cNvPr id="8" name="Box scre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584448"/>
            <a:ext cx="5376672" cy="1920240"/>
          </a:xfrm>
          <a:prstGeom prst="roundRect">
            <a:avLst/>
          </a:prstGeom>
          <a:ln w="19050">
            <a:solidFill>
              <a:srgbClr val="ECEAE5"/>
            </a:solidFill>
            <a:prstDash val="solid"/>
          </a:ln>
        </p:spPr>
      </p:pic>
      <p:sp>
        <p:nvSpPr>
          <p:cNvPr id="9" name="Box caption"/>
          <p:cNvSpPr txBox="1"/>
          <p:nvPr/>
        </p:nvSpPr>
        <p:spPr>
          <a:xfrm>
            <a:off x="6720840" y="5632704"/>
            <a:ext cx="452628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AE5"/>
            </a:solidFill>
            <a:prstDash val="solid"/>
          </a:ln>
        </p:spPr>
        <p:txBody>
          <a:bodyPr wrap="square" anchor="ctr" lIns="73152" tIns="45720" rIns="73152" bIns="45720"/>
          <a:lstStyle/>
          <a:p>
            <a:pPr algn="ctr" lvl="0" marB="0"/>
            <a:r>
              <a:rPr lang="ru-RU" sz="1400" dirty="0" b="1">
                <a:solidFill>
                  <a:srgbClr val="1B1F23"/>
                </a:solidFill>
                <a:latin typeface="Arial"/>
                <a:cs typeface="Arial"/>
              </a:rPr>
              <a:t>Коробка раскрывает уже обещанный предмет</a:t>
            </a:r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icker"/>
          <p:cNvSpPr txBox="1"/>
          <p:nvPr/>
        </p:nvSpPr>
        <p:spPr>
          <a:xfrm>
            <a:off x="502920" y="256032"/>
            <a:ext cx="896112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100" dirty="0" b="1">
                <a:solidFill>
                  <a:srgbClr val="E52329"/>
                </a:solidFill>
                <a:latin typeface="Arial"/>
                <a:cs typeface="Arial"/>
              </a:rPr>
              <a:t>ПРОБЛЕМАТИКА</a:t>
            </a:r>
            <a:endParaRPr lang="ru-RU"/>
          </a:p>
        </p:txBody>
      </p:sp>
      <p:sp>
        <p:nvSpPr>
          <p:cNvPr id="11" name="Title"/>
          <p:cNvSpPr txBox="1"/>
          <p:nvPr/>
        </p:nvSpPr>
        <p:spPr>
          <a:xfrm>
            <a:off x="502920" y="566928"/>
            <a:ext cx="10881360" cy="74980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2700" dirty="0" b="1">
                <a:solidFill>
                  <a:srgbClr val="1B1F23"/>
                </a:solidFill>
                <a:latin typeface="Arial"/>
                <a:cs typeface="Arial"/>
              </a:rPr>
              <a:t>Разовая акция заканчивается на кассе</a:t>
            </a:r>
            <a:endParaRPr lang="ru-RU"/>
          </a:p>
        </p:txBody>
      </p:sp>
      <p:sp>
        <p:nvSpPr>
          <p:cNvPr id="12" name="Subtitle"/>
          <p:cNvSpPr txBox="1"/>
          <p:nvPr/>
        </p:nvSpPr>
        <p:spPr>
          <a:xfrm>
            <a:off x="530352" y="1298448"/>
            <a:ext cx="10698480" cy="4023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500" dirty="0">
                <a:solidFill>
                  <a:srgbClr val="666D70"/>
                </a:solidFill>
                <a:latin typeface="Arial"/>
                <a:cs typeface="Arial"/>
              </a:rPr>
              <a:t>Нужен следующий понятный шаг без массовой раздачи дорогих наград.</a:t>
            </a:r>
            <a:endParaRPr lang="ru-RU"/>
          </a:p>
        </p:txBody>
      </p:sp>
      <p:sp>
        <p:nvSpPr>
          <p:cNvPr id="13" name="Slide number"/>
          <p:cNvSpPr txBox="1"/>
          <p:nvPr/>
        </p:nvSpPr>
        <p:spPr>
          <a:xfrm>
            <a:off x="11201400" y="256032"/>
            <a:ext cx="438912" cy="32004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02</a:t>
            </a:r>
            <a:endParaRPr lang="ru-RU"/>
          </a:p>
        </p:txBody>
      </p:sp>
      <p:sp>
        <p:nvSpPr>
          <p:cNvPr id="14" name="User problem"/>
          <p:cNvSpPr txBox="1"/>
          <p:nvPr/>
        </p:nvSpPr>
        <p:spPr>
          <a:xfrm>
            <a:off x="530352" y="1874520"/>
            <a:ext cx="5367528" cy="15179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AE5"/>
            </a:solidFill>
            <a:prstDash val="solid"/>
          </a:ln>
        </p:spPr>
        <p:txBody>
          <a:bodyPr wrap="square" anchor="ctr" lIns="228600" tIns="173736" rIns="228600" bIns="128016"/>
          <a:lstStyle/>
          <a:p>
            <a:pPr algn="l" lvl="0" marB="0"/>
            <a:r>
              <a:rPr lang="ru-RU" sz="1200" dirty="0" b="1">
                <a:solidFill>
                  <a:srgbClr val="E52329"/>
                </a:solidFill>
                <a:latin typeface="Arial"/>
                <a:cs typeface="Arial"/>
              </a:rPr>
              <a:t>ПРОБЛЕМА ПОКУПАТЕЛЯ</a:t>
            </a:r>
            <a:endParaRPr lang="ru-RU"/>
          </a:p>
          <a:p>
            <a:pPr algn="l" lvl="0" marB="0"/>
            <a:r>
              <a:rPr lang="ru-RU" sz="2100" dirty="0" b="1">
                <a:solidFill>
                  <a:srgbClr val="1B1F23"/>
                </a:solidFill>
                <a:latin typeface="Arial"/>
                <a:cs typeface="Arial"/>
              </a:rPr>
              <a:t>Скидка даёт выгоду один раз,</a:t>
            </a:r>
            <a:endParaRPr lang="ru-RU"/>
          </a:p>
          <a:p>
            <a:pPr algn="l" lvl="0" marB="0"/>
            <a:r>
              <a:rPr lang="ru-RU" sz="1700" dirty="0">
                <a:solidFill>
                  <a:srgbClr val="666D70"/>
                </a:solidFill>
                <a:latin typeface="Arial"/>
                <a:cs typeface="Arial"/>
              </a:rPr>
              <a:t>но не оставляет прогресс и цель вернуться.</a:t>
            </a:r>
            <a:endParaRPr lang="ru-RU"/>
          </a:p>
        </p:txBody>
      </p:sp>
      <p:sp>
        <p:nvSpPr>
          <p:cNvPr id="15" name="X5 problem"/>
          <p:cNvSpPr txBox="1"/>
          <p:nvPr/>
        </p:nvSpPr>
        <p:spPr>
          <a:xfrm>
            <a:off x="6291072" y="1874520"/>
            <a:ext cx="5367528" cy="15179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AE5"/>
            </a:solidFill>
            <a:prstDash val="solid"/>
          </a:ln>
        </p:spPr>
        <p:txBody>
          <a:bodyPr wrap="square" anchor="ctr" lIns="228600" tIns="173736" rIns="228600" bIns="128016"/>
          <a:lstStyle/>
          <a:p>
            <a:pPr algn="l" lvl="0" marB="0"/>
            <a:r>
              <a:rPr lang="ru-RU" sz="1200" dirty="0" b="1">
                <a:solidFill>
                  <a:srgbClr val="E52329"/>
                </a:solidFill>
                <a:latin typeface="Arial"/>
                <a:cs typeface="Arial"/>
              </a:rPr>
              <a:t>ПРОБЛЕМА X5</a:t>
            </a:r>
            <a:endParaRPr lang="ru-RU"/>
          </a:p>
          <a:p>
            <a:pPr algn="l" lvl="0" marB="0"/>
            <a:r>
              <a:rPr lang="ru-RU" sz="2100" dirty="0" b="1">
                <a:solidFill>
                  <a:srgbClr val="1B1F23"/>
                </a:solidFill>
                <a:latin typeface="Arial"/>
                <a:cs typeface="Arial"/>
              </a:rPr>
              <a:t>Массовый подарок слишком дорог,</a:t>
            </a:r>
            <a:endParaRPr lang="ru-RU"/>
          </a:p>
          <a:p>
            <a:pPr algn="l" lvl="0" marB="0"/>
            <a:r>
              <a:rPr lang="ru-RU" sz="1700" dirty="0">
                <a:solidFill>
                  <a:srgbClr val="666D70"/>
                </a:solidFill>
                <a:latin typeface="Arial"/>
                <a:cs typeface="Arial"/>
              </a:rPr>
              <a:t>а одинаковое промо не учитывает ценность визита.</a:t>
            </a:r>
            <a:endParaRPr lang="ru-RU"/>
          </a:p>
        </p:txBody>
      </p:sp>
      <p:sp>
        <p:nvSpPr>
          <p:cNvPr id="16" name="Answer strip"/>
          <p:cNvSpPr txBox="1"/>
          <p:nvPr/>
        </p:nvSpPr>
        <p:spPr>
          <a:xfrm>
            <a:off x="530352" y="3703320"/>
            <a:ext cx="11128248" cy="2331720"/>
          </a:xfrm>
          <a:prstGeom prst="roundRect">
            <a:avLst/>
          </a:prstGeom>
          <a:solidFill>
            <a:srgbClr val="21312A"/>
          </a:solidFill>
          <a:ln w="12700">
            <a:noFill/>
            <a:prstDash val="solid"/>
          </a:ln>
        </p:spPr>
        <p:txBody>
          <a:bodyPr wrap="square" anchor="ctr" lIns="228600" tIns="201168" rIns="228600" bIns="164592"/>
          <a:lstStyle/>
          <a:p>
            <a:pPr algn="ctr" lvl="0" marB="0"/>
            <a:r>
              <a:rPr lang="ru-RU" sz="1200" dirty="0" b="1">
                <a:solidFill>
                  <a:srgbClr val="F4B942"/>
                </a:solidFill>
                <a:latin typeface="Arial"/>
                <a:cs typeface="Arial"/>
              </a:rPr>
              <a:t>НАШ ОТВЕТ</a:t>
            </a:r>
            <a:endParaRPr lang="ru-RU"/>
          </a:p>
          <a:p>
            <a:pPr algn="ctr" lvl="0" marB="0"/>
            <a:r>
              <a:rPr lang="ru-RU" sz="2200" dirty="0" b="1">
                <a:solidFill>
                  <a:srgbClr val="FFFFFF"/>
                </a:solidFill>
                <a:latin typeface="Arial"/>
                <a:cs typeface="Arial"/>
              </a:rPr>
              <a:t>Конкретный подарок запускает участие</a:t>
            </a:r>
            <a:endParaRPr lang="ru-RU"/>
          </a:p>
          <a:p>
            <a:pPr algn="ctr" lvl="0" marB="0"/>
            <a:r>
              <a:rPr lang="ru-RU" sz="2200" dirty="0" b="1">
                <a:solidFill>
                  <a:srgbClr val="F4B942"/>
                </a:solidFill>
                <a:latin typeface="Arial"/>
                <a:cs typeface="Arial"/>
              </a:rPr>
              <a:t>↓</a:t>
            </a:r>
            <a:endParaRPr lang="ru-RU"/>
          </a:p>
          <a:p>
            <a:pPr algn="ctr" lvl="0" marB="0"/>
            <a:r>
              <a:rPr lang="ru-RU" sz="1800" dirty="0">
                <a:solidFill>
                  <a:srgbClr val="FFFFFF"/>
                </a:solidFill>
                <a:latin typeface="Arial"/>
                <a:cs typeface="Arial"/>
              </a:rPr>
              <a:t>коробка оставляет предмет → коллекция задаёт следующую цель</a:t>
            </a:r>
            <a:endParaRPr lang="ru-RU"/>
          </a:p>
          <a:p>
            <a:pPr algn="ctr" lvl="0" marB="0"/>
            <a:r>
              <a:rPr lang="ru-RU" sz="2200" dirty="0" b="1">
                <a:solidFill>
                  <a:srgbClr val="F4B942"/>
                </a:solidFill>
                <a:latin typeface="Arial"/>
                <a:cs typeface="Arial"/>
              </a:rPr>
              <a:t>↓</a:t>
            </a:r>
            <a:endParaRPr lang="ru-RU"/>
          </a:p>
          <a:p>
            <a:pPr algn="ctr" lvl="0" marB="0"/>
            <a:r>
              <a:rPr lang="ru-RU" sz="2000" dirty="0" b="1">
                <a:solidFill>
                  <a:srgbClr val="FFFFFF"/>
                </a:solidFill>
                <a:latin typeface="Arial"/>
                <a:cs typeface="Arial"/>
              </a:rPr>
              <a:t>четыре предмета дают выбранную скидку</a:t>
            </a:r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icker"/>
          <p:cNvSpPr txBox="1"/>
          <p:nvPr/>
        </p:nvSpPr>
        <p:spPr>
          <a:xfrm>
            <a:off x="502920" y="256032"/>
            <a:ext cx="896112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100" dirty="0" b="1">
                <a:solidFill>
                  <a:srgbClr val="E52329"/>
                </a:solidFill>
                <a:latin typeface="Arial"/>
                <a:cs typeface="Arial"/>
              </a:rPr>
              <a:t>ДЕМО · 1:00–3:10</a:t>
            </a:r>
            <a:endParaRPr lang="ru-RU"/>
          </a:p>
        </p:txBody>
      </p:sp>
      <p:sp>
        <p:nvSpPr>
          <p:cNvPr id="11" name="Title"/>
          <p:cNvSpPr txBox="1"/>
          <p:nvPr/>
        </p:nvSpPr>
        <p:spPr>
          <a:xfrm>
            <a:off x="502920" y="566928"/>
            <a:ext cx="10881360" cy="74980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2700" dirty="0" b="1">
                <a:solidFill>
                  <a:srgbClr val="1B1F23"/>
                </a:solidFill>
                <a:latin typeface="Arial"/>
                <a:cs typeface="Arial"/>
              </a:rPr>
              <a:t>Награда известна до покупки и начисляется один раз</a:t>
            </a:r>
            <a:endParaRPr lang="ru-RU"/>
          </a:p>
        </p:txBody>
      </p:sp>
      <p:sp>
        <p:nvSpPr>
          <p:cNvPr id="12" name="Subtitle"/>
          <p:cNvSpPr txBox="1"/>
          <p:nvPr/>
        </p:nvSpPr>
        <p:spPr>
          <a:xfrm>
            <a:off x="530352" y="1298448"/>
            <a:ext cx="10698480" cy="4023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500" dirty="0">
                <a:solidFill>
                  <a:srgbClr val="666D70"/>
                </a:solidFill>
                <a:latin typeface="Arial"/>
                <a:cs typeface="Arial"/>
              </a:rPr>
              <a:t>Резерв фиксируется до показа; коробка не меняет обещание случайно.</a:t>
            </a:r>
            <a:endParaRPr lang="ru-RU"/>
          </a:p>
        </p:txBody>
      </p:sp>
      <p:sp>
        <p:nvSpPr>
          <p:cNvPr id="13" name="Slide number"/>
          <p:cNvSpPr txBox="1"/>
          <p:nvPr/>
        </p:nvSpPr>
        <p:spPr>
          <a:xfrm>
            <a:off x="11201400" y="256032"/>
            <a:ext cx="438912" cy="32004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03</a:t>
            </a:r>
            <a:endParaRPr lang="ru-RU"/>
          </a:p>
        </p:txBody>
      </p:sp>
      <p:sp>
        <p:nvSpPr>
          <p:cNvPr id="14" name="Step 1"/>
          <p:cNvSpPr txBox="1"/>
          <p:nvPr/>
        </p:nvSpPr>
        <p:spPr>
          <a:xfrm>
            <a:off x="411480" y="1755648"/>
            <a:ext cx="420624" cy="420624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500" dirty="0" b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/>
          </a:p>
        </p:txBody>
      </p:sp>
      <p:sp>
        <p:nvSpPr>
          <p:cNvPr id="15" name="Step title 1"/>
          <p:cNvSpPr txBox="1"/>
          <p:nvPr/>
        </p:nvSpPr>
        <p:spPr>
          <a:xfrm>
            <a:off x="941832" y="1746504"/>
            <a:ext cx="292608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800" dirty="0" b="1">
                <a:solidFill>
                  <a:srgbClr val="1B1F23"/>
                </a:solidFill>
                <a:latin typeface="Arial"/>
                <a:cs typeface="Arial"/>
              </a:rPr>
              <a:t>Задание</a:t>
            </a:r>
            <a:endParaRPr lang="ru-RU"/>
          </a:p>
          <a:p>
            <a:pPr algn="l" lvl="0" marB="0"/>
            <a:r>
              <a:rPr lang="ru-RU" sz="1200" dirty="0">
                <a:solidFill>
                  <a:srgbClr val="666D70"/>
                </a:solidFill>
                <a:latin typeface="Arial"/>
                <a:cs typeface="Arial"/>
              </a:rPr>
              <a:t>История + инвентарь</a:t>
            </a:r>
            <a:endParaRPr lang="ru-RU"/>
          </a:p>
        </p:txBody>
      </p:sp>
      <p:sp>
        <p:nvSpPr>
          <p:cNvPr id="16" name="Step 2"/>
          <p:cNvSpPr txBox="1"/>
          <p:nvPr/>
        </p:nvSpPr>
        <p:spPr>
          <a:xfrm>
            <a:off x="4160520" y="1755648"/>
            <a:ext cx="420624" cy="420624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500" dirty="0" b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/>
          </a:p>
        </p:txBody>
      </p:sp>
      <p:sp>
        <p:nvSpPr>
          <p:cNvPr id="17" name="Step title 2"/>
          <p:cNvSpPr txBox="1"/>
          <p:nvPr/>
        </p:nvSpPr>
        <p:spPr>
          <a:xfrm>
            <a:off x="4690872" y="1746504"/>
            <a:ext cx="292608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800" dirty="0" b="1">
                <a:solidFill>
                  <a:srgbClr val="1B1F23"/>
                </a:solidFill>
                <a:latin typeface="Arial"/>
                <a:cs typeface="Arial"/>
              </a:rPr>
              <a:t>Чек и коробка</a:t>
            </a:r>
            <a:endParaRPr lang="ru-RU"/>
          </a:p>
          <a:p>
            <a:pPr algn="l" lvl="0" marB="0"/>
            <a:r>
              <a:rPr lang="ru-RU" sz="1200" dirty="0">
                <a:solidFill>
                  <a:srgbClr val="666D70"/>
                </a:solidFill>
                <a:latin typeface="Arial"/>
                <a:cs typeface="Arial"/>
              </a:rPr>
              <a:t>Предмет + бесплатный SKU</a:t>
            </a:r>
            <a:endParaRPr lang="ru-RU"/>
          </a:p>
        </p:txBody>
      </p:sp>
      <p:sp>
        <p:nvSpPr>
          <p:cNvPr id="18" name="Step 3"/>
          <p:cNvSpPr txBox="1"/>
          <p:nvPr/>
        </p:nvSpPr>
        <p:spPr>
          <a:xfrm>
            <a:off x="7909560" y="1755648"/>
            <a:ext cx="420624" cy="420624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500" dirty="0" b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/>
          </a:p>
        </p:txBody>
      </p:sp>
      <p:sp>
        <p:nvSpPr>
          <p:cNvPr id="19" name="Step title 3"/>
          <p:cNvSpPr txBox="1"/>
          <p:nvPr/>
        </p:nvSpPr>
        <p:spPr>
          <a:xfrm>
            <a:off x="8439912" y="1746504"/>
            <a:ext cx="2926080" cy="457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800" dirty="0" b="1">
                <a:solidFill>
                  <a:srgbClr val="1B1F23"/>
                </a:solidFill>
                <a:latin typeface="Arial"/>
                <a:cs typeface="Arial"/>
              </a:rPr>
              <a:t>Прогресс</a:t>
            </a:r>
            <a:endParaRPr lang="ru-RU"/>
          </a:p>
          <a:p>
            <a:pPr algn="l" lvl="0" marB="0"/>
            <a:r>
              <a:rPr lang="ru-RU" sz="1200" dirty="0">
                <a:solidFill>
                  <a:srgbClr val="666D70"/>
                </a:solidFill>
                <a:latin typeface="Arial"/>
                <a:cs typeface="Arial"/>
              </a:rPr>
              <a:t>4 предмета → скидка 8%</a:t>
            </a:r>
            <a:endParaRPr lang="ru-RU"/>
          </a:p>
        </p:txBody>
      </p:sp>
      <p:pic>
        <p:nvPicPr>
          <p:cNvPr id="20" name="Challeng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350008"/>
            <a:ext cx="3364992" cy="2615184"/>
          </a:xfrm>
          <a:prstGeom prst="roundRect">
            <a:avLst/>
          </a:prstGeom>
          <a:ln w="19050">
            <a:solidFill>
              <a:srgbClr val="ECEAE5"/>
            </a:solidFill>
            <a:prstDash val="solid"/>
          </a:ln>
        </p:spPr>
      </p:pic>
      <p:pic>
        <p:nvPicPr>
          <p:cNvPr id="21" name="Reward box screenshot"/>
          <p:cNvPicPr>
            <a:picLocks noChangeAspect="1"/>
          </p:cNvPicPr>
          <p:nvPr/>
        </p:nvPicPr>
        <p:blipFill>
          <a:blip r:embed="rId4"/>
          <a:srcRect l="27000" r="27000" t="17000" b="17000"/>
          <a:stretch>
            <a:fillRect/>
          </a:stretch>
        </p:blipFill>
        <p:spPr>
          <a:xfrm>
            <a:off x="4160520" y="2350008"/>
            <a:ext cx="3364992" cy="3401568"/>
          </a:xfrm>
          <a:prstGeom prst="roundRect">
            <a:avLst/>
          </a:prstGeom>
          <a:ln w="19050">
            <a:solidFill>
              <a:srgbClr val="ECEAE5"/>
            </a:solidFill>
            <a:prstDash val="solid"/>
          </a:ln>
        </p:spPr>
      </p:pic>
      <p:pic>
        <p:nvPicPr>
          <p:cNvPr id="22" name="Inventory screenshot"/>
          <p:cNvPicPr>
            <a:picLocks noChangeAspect="1"/>
          </p:cNvPicPr>
          <p:nvPr/>
        </p:nvPicPr>
        <p:blipFill>
          <a:blip r:embed="rId5"/>
          <a:srcRect t="2000" b="15000"/>
          <a:stretch>
            <a:fillRect/>
          </a:stretch>
        </p:blipFill>
        <p:spPr>
          <a:xfrm>
            <a:off x="7909560" y="2350008"/>
            <a:ext cx="3364992" cy="3401568"/>
          </a:xfrm>
          <a:prstGeom prst="roundRect">
            <a:avLst/>
          </a:prstGeom>
          <a:ln w="19050">
            <a:solidFill>
              <a:srgbClr val="ECEAE5"/>
            </a:solidFill>
            <a:prstDash val="solid"/>
          </a:ln>
        </p:spPr>
      </p:pic>
      <p:sp>
        <p:nvSpPr>
          <p:cNvPr id="23" name="Bottom statement"/>
          <p:cNvSpPr txBox="1"/>
          <p:nvPr/>
        </p:nvSpPr>
        <p:spPr>
          <a:xfrm>
            <a:off x="411480" y="5989320"/>
            <a:ext cx="10863072" cy="530352"/>
          </a:xfrm>
          <a:prstGeom prst="roundRect">
            <a:avLst/>
          </a:prstGeom>
          <a:solidFill>
            <a:srgbClr val="E7F4EA"/>
          </a:solidFill>
          <a:ln w="12700">
            <a:noFill/>
            <a:prstDash val="solid"/>
          </a:ln>
        </p:spPr>
        <p:txBody>
          <a:bodyPr wrap="square" anchor="ctr" lIns="73152" tIns="45720" rIns="73152" bIns="45720"/>
          <a:lstStyle/>
          <a:p>
            <a:pPr algn="ctr" lvl="0" marB="0"/>
            <a:r>
              <a:rPr lang="ru-RU" sz="1600" dirty="0" b="1">
                <a:solidFill>
                  <a:srgbClr val="159447"/>
                </a:solidFill>
                <a:latin typeface="Arial"/>
                <a:cs typeface="Arial"/>
              </a:rPr>
              <a:t>Подтверждённый чек → однократная выдача → коробка → инвентарь → крафт</a:t>
            </a:r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icker"/>
          <p:cNvSpPr txBox="1"/>
          <p:nvPr/>
        </p:nvSpPr>
        <p:spPr>
          <a:xfrm>
            <a:off x="502920" y="256032"/>
            <a:ext cx="896112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100" dirty="0" b="1">
                <a:solidFill>
                  <a:srgbClr val="E52329"/>
                </a:solidFill>
                <a:latin typeface="Arial"/>
                <a:cs typeface="Arial"/>
              </a:rPr>
              <a:t>ТЕХНИЧЕСКАЯ РЕАЛИЗАЦИЯ · 3:10–4:10</a:t>
            </a:r>
            <a:endParaRPr lang="ru-RU"/>
          </a:p>
        </p:txBody>
      </p:sp>
      <p:sp>
        <p:nvSpPr>
          <p:cNvPr id="11" name="Title"/>
          <p:cNvSpPr txBox="1"/>
          <p:nvPr/>
        </p:nvSpPr>
        <p:spPr>
          <a:xfrm>
            <a:off x="502920" y="566928"/>
            <a:ext cx="10881360" cy="74980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2700" dirty="0" b="1">
                <a:solidFill>
                  <a:srgbClr val="1B1F23"/>
                </a:solidFill>
                <a:latin typeface="Arial"/>
                <a:cs typeface="Arial"/>
              </a:rPr>
              <a:t>RecSys выбирает, Ads финансирует, LLM объясняет</a:t>
            </a:r>
            <a:endParaRPr lang="ru-RU"/>
          </a:p>
        </p:txBody>
      </p:sp>
      <p:sp>
        <p:nvSpPr>
          <p:cNvPr id="12" name="Subtitle"/>
          <p:cNvSpPr txBox="1"/>
          <p:nvPr/>
        </p:nvSpPr>
        <p:spPr>
          <a:xfrm>
            <a:off x="530352" y="1298448"/>
            <a:ext cx="10698480" cy="4023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500" dirty="0">
                <a:solidFill>
                  <a:srgbClr val="666D70"/>
                </a:solidFill>
                <a:latin typeface="Arial"/>
                <a:cs typeface="Arial"/>
              </a:rPr>
              <a:t>Один локальный контур: React/Vite ↔ Zod/JSON ↔ Python.</a:t>
            </a:r>
            <a:endParaRPr lang="ru-RU"/>
          </a:p>
        </p:txBody>
      </p:sp>
      <p:sp>
        <p:nvSpPr>
          <p:cNvPr id="13" name="Slide number"/>
          <p:cNvSpPr txBox="1"/>
          <p:nvPr/>
        </p:nvSpPr>
        <p:spPr>
          <a:xfrm>
            <a:off x="11201400" y="256032"/>
            <a:ext cx="438912" cy="32004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04</a:t>
            </a:r>
            <a:endParaRPr lang="ru-RU"/>
          </a:p>
        </p:txBody>
      </p:sp>
      <p:sp>
        <p:nvSpPr>
          <p:cNvPr id="14" name="Inputs"/>
          <p:cNvSpPr txBox="1"/>
          <p:nvPr/>
        </p:nvSpPr>
        <p:spPr>
          <a:xfrm>
            <a:off x="566928" y="1764792"/>
            <a:ext cx="11045952" cy="640080"/>
          </a:xfrm>
          <a:prstGeom prst="roundRect">
            <a:avLst/>
          </a:prstGeom>
          <a:solidFill>
            <a:srgbClr val="21312A"/>
          </a:solidFill>
          <a:ln w="12700">
            <a:noFill/>
            <a:prstDash val="solid"/>
          </a:ln>
        </p:spPr>
        <p:txBody>
          <a:bodyPr wrap="square" anchor="ctr" lIns="73152" tIns="45720" rIns="73152" bIns="45720"/>
          <a:lstStyle/>
          <a:p>
            <a:pPr algn="ctr" lvl="0" marB="0"/>
            <a:r>
              <a:rPr lang="ru-RU" sz="1700" dirty="0" b="1">
                <a:solidFill>
                  <a:srgbClr val="FFFFFF"/>
                </a:solidFill>
                <a:latin typeface="Arial"/>
                <a:cs typeface="Arial"/>
              </a:rPr>
              <a:t>История покупок + ритм визитов + инвентарь + каталог + кампании</a:t>
            </a:r>
            <a:endParaRPr lang="ru-RU"/>
          </a:p>
        </p:txBody>
      </p:sp>
      <p:sp>
        <p:nvSpPr>
          <p:cNvPr id="15" name="Card RecSys"/>
          <p:cNvSpPr txBox="1"/>
          <p:nvPr/>
        </p:nvSpPr>
        <p:spPr>
          <a:xfrm>
            <a:off x="566928" y="2697480"/>
            <a:ext cx="3401568" cy="2167128"/>
          </a:xfrm>
          <a:prstGeom prst="roundRect">
            <a:avLst/>
          </a:prstGeom>
          <a:solidFill>
            <a:srgbClr val="E7F4EA"/>
          </a:solidFill>
          <a:ln w="12700">
            <a:noFill/>
            <a:prstDash val="solid"/>
          </a:ln>
        </p:spPr>
        <p:txBody>
          <a:bodyPr wrap="square" anchor="ctr" lIns="201168" tIns="173736" rIns="201168" bIns="137160"/>
          <a:lstStyle/>
          <a:p>
            <a:pPr algn="ctr" lvl="0" marB="0"/>
            <a:r>
              <a:rPr lang="ru-RU" sz="2300" dirty="0" b="1">
                <a:solidFill>
                  <a:srgbClr val="159447"/>
                </a:solidFill>
                <a:latin typeface="Arial"/>
                <a:cs typeface="Arial"/>
              </a:rPr>
              <a:t>RecSys</a:t>
            </a:r>
            <a:endParaRPr lang="ru-RU"/>
          </a:p>
          <a:p>
            <a:pPr algn="ctr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Полный перебор малого каталога</a:t>
            </a:r>
            <a:endParaRPr lang="ru-RU"/>
          </a:p>
          <a:p>
            <a:pPr algn="ctr" lvl="0" marB="0"/>
            <a:r>
              <a:rPr lang="ru-RU" sz="1400" dirty="0">
                <a:solidFill>
                  <a:srgbClr val="666D70"/>
                </a:solidFill>
                <a:latin typeface="Arial"/>
                <a:cs typeface="Arial"/>
              </a:rPr>
              <a:t>Релевантность · выполнимость · вклад в рецепт · экономика</a:t>
            </a:r>
            <a:endParaRPr lang="ru-RU"/>
          </a:p>
        </p:txBody>
      </p:sp>
      <p:sp>
        <p:nvSpPr>
          <p:cNvPr id="16" name="Card Ads"/>
          <p:cNvSpPr txBox="1"/>
          <p:nvPr/>
        </p:nvSpPr>
        <p:spPr>
          <a:xfrm>
            <a:off x="4315968" y="2697480"/>
            <a:ext cx="3401568" cy="2167128"/>
          </a:xfrm>
          <a:prstGeom prst="roundRect">
            <a:avLst/>
          </a:prstGeom>
          <a:solidFill>
            <a:srgbClr val="FDEBEC"/>
          </a:solidFill>
          <a:ln w="12700">
            <a:noFill/>
            <a:prstDash val="solid"/>
          </a:ln>
        </p:spPr>
        <p:txBody>
          <a:bodyPr wrap="square" anchor="ctr" lIns="201168" tIns="173736" rIns="201168" bIns="137160"/>
          <a:lstStyle/>
          <a:p>
            <a:pPr algn="ctr" lvl="0" marB="0"/>
            <a:r>
              <a:rPr lang="ru-RU" sz="2300" dirty="0" b="1">
                <a:solidFill>
                  <a:srgbClr val="E52329"/>
                </a:solidFill>
                <a:latin typeface="Arial"/>
                <a:cs typeface="Arial"/>
              </a:rPr>
              <a:t>Ads</a:t>
            </a:r>
            <a:endParaRPr lang="ru-RU"/>
          </a:p>
          <a:p>
            <a:pPr algn="ctr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Quality-adjusted first-price CPA</a:t>
            </a:r>
            <a:endParaRPr lang="ru-RU"/>
          </a:p>
          <a:p>
            <a:pPr algn="ctr" lvl="0" marB="0"/>
            <a:r>
              <a:rPr lang="ru-RU" sz="1400" dirty="0">
                <a:solidFill>
                  <a:srgbClr val="666D70"/>
                </a:solidFill>
                <a:latin typeface="Arial"/>
                <a:cs typeface="Arial"/>
              </a:rPr>
              <a:t>Фильтры → резерв → победитель → один платёж после события</a:t>
            </a:r>
            <a:endParaRPr lang="ru-RU"/>
          </a:p>
        </p:txBody>
      </p:sp>
      <p:sp>
        <p:nvSpPr>
          <p:cNvPr id="17" name="Card LLM"/>
          <p:cNvSpPr txBox="1"/>
          <p:nvPr/>
        </p:nvSpPr>
        <p:spPr>
          <a:xfrm>
            <a:off x="8065008" y="2697480"/>
            <a:ext cx="3401568" cy="2167128"/>
          </a:xfrm>
          <a:prstGeom prst="roundRect">
            <a:avLst/>
          </a:prstGeom>
          <a:solidFill>
            <a:srgbClr val="F1F0EC"/>
          </a:solidFill>
          <a:ln w="12700">
            <a:noFill/>
            <a:prstDash val="solid"/>
          </a:ln>
        </p:spPr>
        <p:txBody>
          <a:bodyPr wrap="square" anchor="ctr" lIns="201168" tIns="173736" rIns="201168" bIns="137160"/>
          <a:lstStyle/>
          <a:p>
            <a:pPr algn="ctr" lvl="0" marB="0"/>
            <a:r>
              <a:rPr lang="ru-RU" sz="2300" dirty="0" b="1">
                <a:solidFill>
                  <a:srgbClr val="1B1F23"/>
                </a:solidFill>
                <a:latin typeface="Arial"/>
                <a:cs typeface="Arial"/>
              </a:rPr>
              <a:t>LLM</a:t>
            </a:r>
            <a:endParaRPr lang="ru-RU"/>
          </a:p>
          <a:p>
            <a:pPr algn="ctr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Qwen3 1.7B / fallback</a:t>
            </a:r>
            <a:endParaRPr lang="ru-RU"/>
          </a:p>
          <a:p>
            <a:pPr algn="ctr" lvl="0" marB="0"/>
            <a:r>
              <a:rPr lang="ru-RU" sz="1400" dirty="0">
                <a:solidFill>
                  <a:srgbClr val="666D70"/>
                </a:solidFill>
                <a:latin typeface="Arial"/>
                <a:cs typeface="Arial"/>
              </a:rPr>
              <a:t>Пишет заголовок; схема блокирует подмену срока и награды</a:t>
            </a:r>
            <a:endParaRPr lang="ru-RU"/>
          </a:p>
        </p:txBody>
      </p:sp>
      <p:sp>
        <p:nvSpPr>
          <p:cNvPr id="18" name="Event flow"/>
          <p:cNvSpPr txBox="1"/>
          <p:nvPr/>
        </p:nvSpPr>
        <p:spPr>
          <a:xfrm>
            <a:off x="566928" y="5230368"/>
            <a:ext cx="1104595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AE5"/>
            </a:solidFill>
            <a:prstDash val="solid"/>
          </a:ln>
        </p:spPr>
        <p:txBody>
          <a:bodyPr wrap="square" anchor="ctr" lIns="73152" tIns="45720" rIns="73152" bIns="45720"/>
          <a:lstStyle/>
          <a:p>
            <a:pPr algn="ctr" lvl="0" marB="0"/>
            <a:r>
              <a:rPr lang="ru-RU" sz="1600" dirty="0" b="1">
                <a:solidFill>
                  <a:srgbClr val="1B1F23"/>
                </a:solidFill>
                <a:latin typeface="Arial"/>
                <a:cs typeface="Arial"/>
              </a:rPr>
              <a:t>Квалификация чека → идемпотентная выдача → коробка → инвентарь → обмен / крафт</a:t>
            </a:r>
            <a:endParaRPr lang="ru-RU"/>
          </a:p>
        </p:txBody>
      </p:sp>
      <p:sp>
        <p:nvSpPr>
          <p:cNvPr id="19" name="Model note"/>
          <p:cNvSpPr txBox="1"/>
          <p:nvPr/>
        </p:nvSpPr>
        <p:spPr>
          <a:xfrm>
            <a:off x="603504" y="6199632"/>
            <a:ext cx="1078992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200" dirty="0">
                <a:solidFill>
                  <a:srgbClr val="666D70"/>
                </a:solidFill>
                <a:latin typeface="Arial"/>
                <a:cs typeface="Arial"/>
              </a:rPr>
              <a:t>Offline: treatment/control Logistic Regression + Isotonic calibration + billable-event model</a:t>
            </a:r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icker"/>
          <p:cNvSpPr txBox="1"/>
          <p:nvPr/>
        </p:nvSpPr>
        <p:spPr>
          <a:xfrm>
            <a:off x="502920" y="256032"/>
            <a:ext cx="896112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100" dirty="0" b="1">
                <a:solidFill>
                  <a:srgbClr val="E52329"/>
                </a:solidFill>
                <a:latin typeface="Arial"/>
                <a:cs typeface="Arial"/>
              </a:rPr>
              <a:t>РЕЗУЛЬТАТ</a:t>
            </a:r>
            <a:endParaRPr lang="ru-RU"/>
          </a:p>
        </p:txBody>
      </p:sp>
      <p:sp>
        <p:nvSpPr>
          <p:cNvPr id="11" name="Title"/>
          <p:cNvSpPr txBox="1"/>
          <p:nvPr/>
        </p:nvSpPr>
        <p:spPr>
          <a:xfrm>
            <a:off x="502920" y="566928"/>
            <a:ext cx="10881360" cy="74980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2700" dirty="0" b="1">
                <a:solidFill>
                  <a:srgbClr val="1B1F23"/>
                </a:solidFill>
                <a:latin typeface="Arial"/>
                <a:cs typeface="Arial"/>
              </a:rPr>
              <a:t>Финансируемая политика дала плюс на всех пяти прогонах</a:t>
            </a:r>
            <a:endParaRPr lang="ru-RU"/>
          </a:p>
        </p:txBody>
      </p:sp>
      <p:sp>
        <p:nvSpPr>
          <p:cNvPr id="12" name="Subtitle"/>
          <p:cNvSpPr txBox="1"/>
          <p:nvPr/>
        </p:nvSpPr>
        <p:spPr>
          <a:xfrm>
            <a:off x="530352" y="1298448"/>
            <a:ext cx="10698480" cy="4023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500" dirty="0">
                <a:solidFill>
                  <a:srgbClr val="666D70"/>
                </a:solidFill>
                <a:latin typeface="Arial"/>
                <a:cs typeface="Arial"/>
              </a:rPr>
              <a:t>Условия сравнения: 1 000 синтетических пользователей, четыре недели, общий набор случайных исходов.</a:t>
            </a:r>
            <a:endParaRPr lang="ru-RU"/>
          </a:p>
        </p:txBody>
      </p:sp>
      <p:sp>
        <p:nvSpPr>
          <p:cNvPr id="13" name="Slide number"/>
          <p:cNvSpPr txBox="1"/>
          <p:nvPr/>
        </p:nvSpPr>
        <p:spPr>
          <a:xfrm>
            <a:off x="11201400" y="256032"/>
            <a:ext cx="438912" cy="32004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05</a:t>
            </a:r>
            <a:endParaRPr lang="ru-RU"/>
          </a:p>
        </p:txBody>
      </p:sp>
      <p:pic>
        <p:nvPicPr>
          <p:cNvPr id="14" name="X5 panel"/>
          <p:cNvPicPr>
            <a:picLocks noChangeAspect="1"/>
          </p:cNvPicPr>
          <p:nvPr/>
        </p:nvPicPr>
        <p:blipFill>
          <a:blip r:embed="rId3"/>
          <a:srcRect b="45500"/>
          <a:stretch>
            <a:fillRect/>
          </a:stretch>
        </p:blipFill>
        <p:spPr>
          <a:xfrm>
            <a:off x="502920" y="1783080"/>
            <a:ext cx="3794760" cy="4535424"/>
          </a:xfrm>
          <a:prstGeom prst="roundRect">
            <a:avLst/>
          </a:prstGeom>
          <a:ln w="19050">
            <a:solidFill>
              <a:srgbClr val="ECEAE5"/>
            </a:solidFill>
            <a:prstDash val="solid"/>
          </a:ln>
        </p:spPr>
      </p:pic>
      <p:sp>
        <p:nvSpPr>
          <p:cNvPr id="15" name="Chart title"/>
          <p:cNvSpPr txBox="1"/>
          <p:nvPr/>
        </p:nvSpPr>
        <p:spPr>
          <a:xfrm>
            <a:off x="4636008" y="1783080"/>
            <a:ext cx="6858000" cy="43891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800" dirty="0" b="1">
                <a:solidFill>
                  <a:srgbClr val="1B1F23"/>
                </a:solidFill>
                <a:latin typeface="Arial"/>
                <a:cs typeface="Arial"/>
              </a:rPr>
              <a:t>Итог X5 после новых обязательств</a:t>
            </a:r>
            <a:endParaRPr lang="ru-RU"/>
          </a:p>
        </p:txBody>
      </p:sp>
      <p:cxnSp>
        <p:nvCxnSpPr>
          <p:cNvPr id="16" name="Zero axis"/>
          <p:cNvCxnSpPr/>
          <p:nvPr/>
        </p:nvCxnSpPr>
        <p:spPr>
          <a:xfrm>
            <a:off x="8394192" y="2377440"/>
            <a:ext cx="0" cy="2761488"/>
          </a:xfrm>
          <a:prstGeom prst="line">
            <a:avLst/>
          </a:prstGeom>
          <a:ln w="12700">
            <a:solidFill>
              <a:srgbClr val="ECEAE5"/>
            </a:solidFill>
          </a:ln>
        </p:spPr>
      </p:cxnSp>
      <p:sp>
        <p:nvSpPr>
          <p:cNvPr id="17" name="label0"/>
          <p:cNvSpPr txBox="1"/>
          <p:nvPr/>
        </p:nvSpPr>
        <p:spPr>
          <a:xfrm>
            <a:off x="4636008" y="2450592"/>
            <a:ext cx="2331720" cy="3474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 b="1">
                <a:solidFill>
                  <a:srgbClr val="1B1F23"/>
                </a:solidFill>
                <a:latin typeface="Arial"/>
                <a:cs typeface="Arial"/>
              </a:rPr>
              <a:t>Финансируемая игра</a:t>
            </a:r>
            <a:endParaRPr lang="ru-RU"/>
          </a:p>
        </p:txBody>
      </p:sp>
      <p:sp>
        <p:nvSpPr>
          <p:cNvPr id="18" name="bar0"/>
          <p:cNvSpPr txBox="0"/>
          <p:nvPr/>
        </p:nvSpPr>
        <p:spPr>
          <a:xfrm>
            <a:off x="8394192" y="2468880"/>
            <a:ext cx="2329299" cy="274320"/>
          </a:xfrm>
          <a:prstGeom prst="roundRect">
            <a:avLst/>
          </a:prstGeom>
          <a:solidFill>
            <a:srgbClr val="159447"/>
          </a:solidFill>
          <a:ln w="12700">
            <a:noFill/>
            <a:prstDash val="solid"/>
          </a:ln>
        </p:spPr>
      </p:sp>
      <p:sp>
        <p:nvSpPr>
          <p:cNvPr id="19" name="value0"/>
          <p:cNvSpPr txBox="1"/>
          <p:nvPr/>
        </p:nvSpPr>
        <p:spPr>
          <a:xfrm>
            <a:off x="10814931" y="2441448"/>
            <a:ext cx="960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 b="1">
                <a:solidFill>
                  <a:srgbClr val="159447"/>
                </a:solidFill>
                <a:latin typeface="Arial"/>
                <a:cs typeface="Arial"/>
              </a:rPr>
              <a:t>+3 845 ₽</a:t>
            </a:r>
            <a:endParaRPr lang="ru-RU"/>
          </a:p>
        </p:txBody>
      </p:sp>
      <p:sp>
        <p:nvSpPr>
          <p:cNvPr id="20" name="label1"/>
          <p:cNvSpPr txBox="1"/>
          <p:nvPr/>
        </p:nvSpPr>
        <p:spPr>
          <a:xfrm>
            <a:off x="4636008" y="3108960"/>
            <a:ext cx="2331720" cy="3474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>
                <a:solidFill>
                  <a:srgbClr val="1B1F23"/>
                </a:solidFill>
                <a:latin typeface="Arial"/>
                <a:cs typeface="Arial"/>
              </a:rPr>
              <a:t>Та же награда без игры</a:t>
            </a:r>
            <a:endParaRPr lang="ru-RU"/>
          </a:p>
        </p:txBody>
      </p:sp>
      <p:sp>
        <p:nvSpPr>
          <p:cNvPr id="21" name="bar1"/>
          <p:cNvSpPr txBox="0"/>
          <p:nvPr/>
        </p:nvSpPr>
        <p:spPr>
          <a:xfrm>
            <a:off x="8394192" y="3127248"/>
            <a:ext cx="2082040" cy="274320"/>
          </a:xfrm>
          <a:prstGeom prst="roundRect">
            <a:avLst/>
          </a:prstGeom>
          <a:solidFill>
            <a:srgbClr val="159447"/>
          </a:solidFill>
          <a:ln w="12700">
            <a:noFill/>
            <a:prstDash val="solid"/>
          </a:ln>
        </p:spPr>
      </p:sp>
      <p:sp>
        <p:nvSpPr>
          <p:cNvPr id="22" name="value1"/>
          <p:cNvSpPr txBox="1"/>
          <p:nvPr/>
        </p:nvSpPr>
        <p:spPr>
          <a:xfrm>
            <a:off x="10567672" y="3099816"/>
            <a:ext cx="960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 b="1">
                <a:solidFill>
                  <a:srgbClr val="159447"/>
                </a:solidFill>
                <a:latin typeface="Arial"/>
                <a:cs typeface="Arial"/>
              </a:rPr>
              <a:t>+3 437 ₽</a:t>
            </a:r>
            <a:endParaRPr lang="ru-RU"/>
          </a:p>
        </p:txBody>
      </p:sp>
      <p:sp>
        <p:nvSpPr>
          <p:cNvPr id="23" name="label2"/>
          <p:cNvSpPr txBox="1"/>
          <p:nvPr/>
        </p:nvSpPr>
        <p:spPr>
          <a:xfrm>
            <a:off x="4636008" y="3767328"/>
            <a:ext cx="2331720" cy="3474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>
                <a:solidFill>
                  <a:srgbClr val="1B1F23"/>
                </a:solidFill>
                <a:latin typeface="Arial"/>
                <a:cs typeface="Arial"/>
              </a:rPr>
              <a:t>Сильное fixed-промо</a:t>
            </a:r>
            <a:endParaRPr lang="ru-RU"/>
          </a:p>
        </p:txBody>
      </p:sp>
      <p:sp>
        <p:nvSpPr>
          <p:cNvPr id="24" name="bar2"/>
          <p:cNvSpPr txBox="0"/>
          <p:nvPr/>
        </p:nvSpPr>
        <p:spPr>
          <a:xfrm>
            <a:off x="8394192" y="3785616"/>
            <a:ext cx="620862" cy="274320"/>
          </a:xfrm>
          <a:prstGeom prst="roundRect">
            <a:avLst/>
          </a:prstGeom>
          <a:solidFill>
            <a:srgbClr val="159447"/>
          </a:solidFill>
          <a:ln w="12700">
            <a:noFill/>
            <a:prstDash val="solid"/>
          </a:ln>
        </p:spPr>
      </p:sp>
      <p:sp>
        <p:nvSpPr>
          <p:cNvPr id="25" name="value2"/>
          <p:cNvSpPr txBox="1"/>
          <p:nvPr/>
        </p:nvSpPr>
        <p:spPr>
          <a:xfrm>
            <a:off x="9106494" y="3758184"/>
            <a:ext cx="960120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 b="1">
                <a:solidFill>
                  <a:srgbClr val="159447"/>
                </a:solidFill>
                <a:latin typeface="Arial"/>
                <a:cs typeface="Arial"/>
              </a:rPr>
              <a:t>+1 025 ₽</a:t>
            </a:r>
            <a:endParaRPr lang="ru-RU"/>
          </a:p>
        </p:txBody>
      </p:sp>
      <p:sp>
        <p:nvSpPr>
          <p:cNvPr id="26" name="label3"/>
          <p:cNvSpPr txBox="1"/>
          <p:nvPr/>
        </p:nvSpPr>
        <p:spPr>
          <a:xfrm>
            <a:off x="4636008" y="4425696"/>
            <a:ext cx="2331720" cy="3474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300" dirty="0">
                <a:solidFill>
                  <a:srgbClr val="1B1F23"/>
                </a:solidFill>
                <a:latin typeface="Arial"/>
                <a:cs typeface="Arial"/>
              </a:rPr>
              <a:t>Массовая выдача</a:t>
            </a:r>
            <a:endParaRPr lang="ru-RU"/>
          </a:p>
        </p:txBody>
      </p:sp>
      <p:sp>
        <p:nvSpPr>
          <p:cNvPr id="27" name="bar3"/>
          <p:cNvSpPr txBox="0"/>
          <p:nvPr/>
        </p:nvSpPr>
        <p:spPr>
          <a:xfrm>
            <a:off x="7086600" y="4443984"/>
            <a:ext cx="1307592" cy="27432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</p:sp>
      <p:sp>
        <p:nvSpPr>
          <p:cNvPr id="28" name="value3"/>
          <p:cNvSpPr txBox="1"/>
          <p:nvPr/>
        </p:nvSpPr>
        <p:spPr>
          <a:xfrm>
            <a:off x="6976872" y="4416552"/>
            <a:ext cx="1261872" cy="3200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r" lvl="0" marB="0"/>
            <a:r>
              <a:rPr lang="ru-RU" sz="1300" dirty="0" b="1">
                <a:solidFill>
                  <a:srgbClr val="E52329"/>
                </a:solidFill>
                <a:latin typeface="Arial"/>
                <a:cs typeface="Arial"/>
              </a:rPr>
              <a:t>-7 996 ₽</a:t>
            </a:r>
            <a:endParaRPr lang="ru-RU"/>
          </a:p>
        </p:txBody>
      </p:sp>
      <p:sp>
        <p:nvSpPr>
          <p:cNvPr id="29" name="Main result"/>
          <p:cNvSpPr txBox="1"/>
          <p:nvPr/>
        </p:nvSpPr>
        <p:spPr>
          <a:xfrm>
            <a:off x="4636008" y="5285232"/>
            <a:ext cx="6858000" cy="658368"/>
          </a:xfrm>
          <a:prstGeom prst="roundRect">
            <a:avLst/>
          </a:prstGeom>
          <a:solidFill>
            <a:srgbClr val="E7F4EA"/>
          </a:solidFill>
          <a:ln w="12700">
            <a:noFill/>
            <a:prstDash val="solid"/>
          </a:ln>
        </p:spPr>
        <p:txBody>
          <a:bodyPr wrap="square" anchor="ctr" lIns="73152" tIns="45720" rIns="73152" bIns="45720"/>
          <a:lstStyle/>
          <a:p>
            <a:pPr algn="ctr" lvl="0" marB="0"/>
            <a:r>
              <a:rPr lang="ru-RU" sz="1600" dirty="0" b="1">
                <a:solidFill>
                  <a:srgbClr val="159447"/>
                </a:solidFill>
                <a:latin typeface="Arial"/>
                <a:cs typeface="Arial"/>
              </a:rPr>
              <a:t>+3 845 ₽ на когорту · диапазон +3 743 … +4 172 ₽ · 5/5 seed</a:t>
            </a:r>
            <a:endParaRPr lang="ru-RU"/>
          </a:p>
        </p:txBody>
      </p:sp>
      <p:sp>
        <p:nvSpPr>
          <p:cNvPr id="30" name="Test evidence"/>
          <p:cNvSpPr txBox="1"/>
          <p:nvPr/>
        </p:nvSpPr>
        <p:spPr>
          <a:xfrm>
            <a:off x="4663440" y="6144768"/>
            <a:ext cx="6720840" cy="28346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ctr" lvl="0" marB="0"/>
            <a:r>
              <a:rPr lang="ru-RU" sz="1200" dirty="0" b="1">
                <a:solidFill>
                  <a:srgbClr val="666D70"/>
                </a:solidFill>
                <a:latin typeface="Arial"/>
                <a:cs typeface="Arial"/>
              </a:rPr>
              <a:t>276 проверок · 16 E2E · 40/40 решений · 8/8 отказов</a:t>
            </a:r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icker"/>
          <p:cNvSpPr txBox="1"/>
          <p:nvPr/>
        </p:nvSpPr>
        <p:spPr>
          <a:xfrm>
            <a:off x="502920" y="256032"/>
            <a:ext cx="8961120" cy="2560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100" dirty="0" b="1">
                <a:solidFill>
                  <a:srgbClr val="E52329"/>
                </a:solidFill>
                <a:latin typeface="Arial"/>
                <a:cs typeface="Arial"/>
              </a:rPr>
              <a:t>ГОТОВНОСТЬ</a:t>
            </a:r>
            <a:endParaRPr lang="ru-RU"/>
          </a:p>
        </p:txBody>
      </p:sp>
      <p:sp>
        <p:nvSpPr>
          <p:cNvPr id="11" name="Title"/>
          <p:cNvSpPr txBox="1"/>
          <p:nvPr/>
        </p:nvSpPr>
        <p:spPr>
          <a:xfrm>
            <a:off x="502920" y="566928"/>
            <a:ext cx="10881360" cy="74980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2700" dirty="0" b="1">
                <a:solidFill>
                  <a:srgbClr val="1B1F23"/>
                </a:solidFill>
                <a:latin typeface="Arial"/>
                <a:cs typeface="Arial"/>
              </a:rPr>
              <a:t>Рабочий PoC готов к проверке на данных X5</a:t>
            </a:r>
            <a:endParaRPr lang="ru-RU"/>
          </a:p>
        </p:txBody>
      </p:sp>
      <p:sp>
        <p:nvSpPr>
          <p:cNvPr id="12" name="Subtitle"/>
          <p:cNvSpPr txBox="1"/>
          <p:nvPr/>
        </p:nvSpPr>
        <p:spPr>
          <a:xfrm>
            <a:off x="530352" y="1298448"/>
            <a:ext cx="10698480" cy="40233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500" dirty="0">
                <a:solidFill>
                  <a:srgbClr val="666D70"/>
                </a:solidFill>
                <a:latin typeface="Arial"/>
                <a:cs typeface="Arial"/>
              </a:rPr>
              <a:t>Ключевой сценарий воспроизводится локально и переживает перезагрузку.</a:t>
            </a:r>
            <a:endParaRPr lang="ru-RU"/>
          </a:p>
        </p:txBody>
      </p:sp>
      <p:sp>
        <p:nvSpPr>
          <p:cNvPr id="13" name="Slide number"/>
          <p:cNvSpPr txBox="1"/>
          <p:nvPr/>
        </p:nvSpPr>
        <p:spPr>
          <a:xfrm>
            <a:off x="11201400" y="256032"/>
            <a:ext cx="438912" cy="32004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06</a:t>
            </a:r>
            <a:endParaRPr lang="ru-RU"/>
          </a:p>
        </p:txBody>
      </p:sp>
      <p:sp>
        <p:nvSpPr>
          <p:cNvPr id="14" name="Ready 0"/>
          <p:cNvSpPr txBox="1"/>
          <p:nvPr/>
        </p:nvSpPr>
        <p:spPr>
          <a:xfrm>
            <a:off x="502920" y="1856232"/>
            <a:ext cx="3456432" cy="3547872"/>
          </a:xfrm>
          <a:prstGeom prst="roundRect">
            <a:avLst/>
          </a:prstGeom>
          <a:solidFill>
            <a:srgbClr val="E7F4EA"/>
          </a:solidFill>
          <a:ln w="12700">
            <a:noFill/>
            <a:prstDash val="solid"/>
          </a:ln>
        </p:spPr>
        <p:txBody>
          <a:bodyPr wrap="square" anchor="ctr" lIns="219456" tIns="201168" rIns="219456" bIns="164592"/>
          <a:lstStyle/>
          <a:p>
            <a:pPr algn="ctr" lvl="0" marB="0"/>
            <a:r>
              <a:rPr lang="ru-RU" sz="1200" dirty="0" b="1">
                <a:solidFill>
                  <a:srgbClr val="159447"/>
                </a:solidFill>
                <a:latin typeface="Arial"/>
                <a:cs typeface="Arial"/>
              </a:rPr>
              <a:t>УЖЕ РАБОТАЕТ</a:t>
            </a:r>
            <a:endParaRPr lang="ru-RU"/>
          </a:p>
          <a:p>
            <a:pPr algn="ctr" lvl="0" marB="0"/>
            <a:r>
              <a:rPr lang="ru-RU" sz="1900" dirty="0" b="1">
                <a:solidFill>
                  <a:srgbClr val="1B1F23"/>
                </a:solidFill>
                <a:latin typeface="Arial"/>
                <a:cs typeface="Arial"/>
              </a:rPr>
              <a:t>Задание → чек → коробка → предмет → инвентарь → скидка</a:t>
            </a:r>
            <a:endParaRPr lang="ru-RU"/>
          </a:p>
          <a:p>
            <a:pPr algn="ctr" lvl="0" marB="0"/>
            <a:r>
              <a:rPr lang="ru-RU" sz="1400" dirty="0">
                <a:solidFill>
                  <a:srgbClr val="666D70"/>
                </a:solidFill>
                <a:latin typeface="Arial"/>
                <a:cs typeface="Arial"/>
              </a:rPr>
              <a:t>Live RecSys · Ads-аукцион и CPA · Qwen/fallback · обмен</a:t>
            </a:r>
            <a:endParaRPr lang="ru-RU"/>
          </a:p>
        </p:txBody>
      </p:sp>
      <p:sp>
        <p:nvSpPr>
          <p:cNvPr id="15" name="Ready 1"/>
          <p:cNvSpPr txBox="1"/>
          <p:nvPr/>
        </p:nvSpPr>
        <p:spPr>
          <a:xfrm>
            <a:off x="4306824" y="1856232"/>
            <a:ext cx="3456432" cy="3547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AE5"/>
            </a:solidFill>
            <a:prstDash val="solid"/>
          </a:ln>
        </p:spPr>
        <p:txBody>
          <a:bodyPr wrap="square" anchor="ctr" lIns="219456" tIns="201168" rIns="219456" bIns="164592"/>
          <a:lstStyle/>
          <a:p>
            <a:pPr algn="ctr" lvl="0" marB="0"/>
            <a:r>
              <a:rPr lang="ru-RU" sz="1200" dirty="0" b="1">
                <a:solidFill>
                  <a:srgbClr val="1B1F23"/>
                </a:solidFill>
                <a:latin typeface="Arial"/>
                <a:cs typeface="Arial"/>
              </a:rPr>
              <a:t>УЖЕ ПРОВЕРЕНО</a:t>
            </a:r>
            <a:endParaRPr lang="ru-RU"/>
          </a:p>
          <a:p>
            <a:pPr algn="ctr" lvl="0" marB="0"/>
            <a:r>
              <a:rPr lang="ru-RU" sz="1900" dirty="0" b="1">
                <a:solidFill>
                  <a:srgbClr val="1B1F23"/>
                </a:solidFill>
                <a:latin typeface="Arial"/>
                <a:cs typeface="Arial"/>
              </a:rPr>
              <a:t>Однократная выдача и платёж · резервы · reload · antifraud-сигналы</a:t>
            </a:r>
            <a:endParaRPr lang="ru-RU"/>
          </a:p>
          <a:p>
            <a:pPr algn="ctr" lvl="0" marB="0"/>
            <a:r>
              <a:rPr lang="ru-RU" sz="1400" dirty="0">
                <a:solidFill>
                  <a:srgbClr val="666D70"/>
                </a:solidFill>
                <a:latin typeface="Arial"/>
                <a:cs typeface="Arial"/>
              </a:rPr>
              <a:t>Сравнение политик на пяти seed · offline learned RecSys</a:t>
            </a:r>
            <a:endParaRPr lang="ru-RU"/>
          </a:p>
        </p:txBody>
      </p:sp>
      <p:sp>
        <p:nvSpPr>
          <p:cNvPr id="16" name="Ready 2"/>
          <p:cNvSpPr txBox="1"/>
          <p:nvPr/>
        </p:nvSpPr>
        <p:spPr>
          <a:xfrm>
            <a:off x="8110728" y="1856232"/>
            <a:ext cx="3456432" cy="3547872"/>
          </a:xfrm>
          <a:prstGeom prst="roundRect">
            <a:avLst/>
          </a:prstGeom>
          <a:solidFill>
            <a:srgbClr val="FDEBEC"/>
          </a:solidFill>
          <a:ln w="12700">
            <a:noFill/>
            <a:prstDash val="solid"/>
          </a:ln>
        </p:spPr>
        <p:txBody>
          <a:bodyPr wrap="square" anchor="ctr" lIns="219456" tIns="201168" rIns="219456" bIns="164592"/>
          <a:lstStyle/>
          <a:p>
            <a:pPr algn="ctr" lvl="0" marB="0"/>
            <a:r>
              <a:rPr lang="ru-RU" sz="1200" dirty="0" b="1">
                <a:solidFill>
                  <a:srgbClr val="E52329"/>
                </a:solidFill>
                <a:latin typeface="Arial"/>
                <a:cs typeface="Arial"/>
              </a:rPr>
              <a:t>СЛЕДУЮЩИЙ ШАГ</a:t>
            </a:r>
            <a:endParaRPr lang="ru-RU"/>
          </a:p>
          <a:p>
            <a:pPr algn="ctr" lvl="0" marB="0"/>
            <a:r>
              <a:rPr lang="ru-RU" sz="1900" dirty="0" b="1">
                <a:solidFill>
                  <a:srgbClr val="1B1F23"/>
                </a:solidFill>
                <a:latin typeface="Arial"/>
                <a:cs typeface="Arial"/>
              </a:rPr>
              <a:t>Подставить реальные SKU, маржу, кампании и логи X5</a:t>
            </a:r>
            <a:endParaRPr lang="ru-RU"/>
          </a:p>
          <a:p>
            <a:pPr algn="ctr" lvl="0" marB="0"/>
            <a:r>
              <a:rPr lang="ru-RU" sz="1400" dirty="0">
                <a:solidFill>
                  <a:srgbClr val="666D70"/>
                </a:solidFill>
                <a:latin typeface="Arial"/>
                <a:cs typeface="Arial"/>
              </a:rPr>
              <a:t>POS + серверный реестр + A/B: игра против той же награды без игры</a:t>
            </a:r>
            <a:endParaRPr lang="ru-RU"/>
          </a:p>
        </p:txBody>
      </p:sp>
      <p:sp>
        <p:nvSpPr>
          <p:cNvPr id="17" name="Pilot claim"/>
          <p:cNvSpPr txBox="1"/>
          <p:nvPr/>
        </p:nvSpPr>
        <p:spPr>
          <a:xfrm>
            <a:off x="502920" y="5696712"/>
            <a:ext cx="11064240" cy="621792"/>
          </a:xfrm>
          <a:prstGeom prst="roundRect">
            <a:avLst/>
          </a:prstGeom>
          <a:solidFill>
            <a:srgbClr val="21312A"/>
          </a:solidFill>
          <a:ln w="12700">
            <a:noFill/>
            <a:prstDash val="solid"/>
          </a:ln>
        </p:spPr>
        <p:txBody>
          <a:bodyPr wrap="square" anchor="ctr" lIns="73152" tIns="45720" rIns="73152" bIns="45720"/>
          <a:lstStyle/>
          <a:p>
            <a:pPr algn="ctr" lvl="0" marB="0"/>
            <a:r>
              <a:rPr lang="ru-RU" sz="1600" dirty="0" b="1">
                <a:solidFill>
                  <a:srgbClr val="FFFFFF"/>
                </a:solidFill>
                <a:latin typeface="Arial"/>
                <a:cs typeface="Arial"/>
              </a:rPr>
              <a:t>Пилот измеряет дополнительные покупочные дни, платный повтор и маржу после наград</a:t>
            </a:r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nal badge"/>
          <p:cNvSpPr txBox="1"/>
          <p:nvPr/>
        </p:nvSpPr>
        <p:spPr>
          <a:xfrm>
            <a:off x="502920" y="393192"/>
            <a:ext cx="1874520" cy="384048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X5 ЧЕКПОИНТ</a:t>
            </a:r>
            <a:endParaRPr lang="ru-RU"/>
          </a:p>
        </p:txBody>
      </p:sp>
      <p:sp>
        <p:nvSpPr>
          <p:cNvPr id="3" name="Final title"/>
          <p:cNvSpPr txBox="1"/>
          <p:nvPr/>
        </p:nvSpPr>
        <p:spPr>
          <a:xfrm>
            <a:off x="594360" y="1143000"/>
            <a:ext cx="10972800" cy="141732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ctr" lvl="0" marB="0"/>
            <a:r>
              <a:rPr lang="ru-RU" sz="3100" dirty="0" b="1">
                <a:solidFill>
                  <a:srgbClr val="1B1F23"/>
                </a:solidFill>
                <a:latin typeface="Arial"/>
                <a:cs typeface="Arial"/>
              </a:rPr>
              <a:t>Подарок запускает визит.</a:t>
            </a:r>
            <a:endParaRPr lang="ru-RU"/>
          </a:p>
          <a:p>
            <a:pPr algn="ctr" lvl="0" marB="0"/>
            <a:r>
              <a:rPr lang="ru-RU" sz="3100" dirty="0" b="1">
                <a:solidFill>
                  <a:srgbClr val="159447"/>
                </a:solidFill>
                <a:latin typeface="Arial"/>
                <a:cs typeface="Arial"/>
              </a:rPr>
              <a:t>Коллекция создаёт следующий шаг.</a:t>
            </a:r>
            <a:endParaRPr lang="ru-RU"/>
          </a:p>
        </p:txBody>
      </p:sp>
      <p:sp>
        <p:nvSpPr>
          <p:cNvPr id="10" name="Final number 1"/>
          <p:cNvSpPr txBox="1"/>
          <p:nvPr/>
        </p:nvSpPr>
        <p:spPr>
          <a:xfrm>
            <a:off x="713232" y="2971800"/>
            <a:ext cx="502920" cy="50292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600" dirty="0" b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/>
          </a:p>
        </p:txBody>
      </p:sp>
      <p:sp>
        <p:nvSpPr>
          <p:cNvPr id="11" name="Final label 1"/>
          <p:cNvSpPr txBox="1"/>
          <p:nvPr/>
        </p:nvSpPr>
        <p:spPr>
          <a:xfrm>
            <a:off x="1353312" y="2953512"/>
            <a:ext cx="196596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l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Конкретная награда</a:t>
            </a:r>
            <a:endParaRPr lang="ru-RU"/>
          </a:p>
        </p:txBody>
      </p:sp>
      <p:sp>
        <p:nvSpPr>
          <p:cNvPr id="30" name="Arrow"/>
          <p:cNvSpPr txBox="1"/>
          <p:nvPr/>
        </p:nvSpPr>
        <p:spPr>
          <a:xfrm>
            <a:off x="3246120" y="3008376"/>
            <a:ext cx="256032" cy="3657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ctr" lvl="0" marB="0"/>
            <a:r>
              <a:rPr lang="ru-RU" sz="1800" dirty="0" b="1">
                <a:solidFill>
                  <a:srgbClr val="666D70"/>
                </a:solidFill>
                <a:latin typeface="Arial"/>
                <a:cs typeface="Arial"/>
              </a:rPr>
              <a:t>→</a:t>
            </a:r>
            <a:endParaRPr lang="ru-RU"/>
          </a:p>
        </p:txBody>
      </p:sp>
      <p:sp>
        <p:nvSpPr>
          <p:cNvPr id="12" name="Final number 2"/>
          <p:cNvSpPr txBox="1"/>
          <p:nvPr/>
        </p:nvSpPr>
        <p:spPr>
          <a:xfrm>
            <a:off x="3547872" y="2971800"/>
            <a:ext cx="502920" cy="502920"/>
          </a:xfrm>
          <a:prstGeom prst="roundRect">
            <a:avLst/>
          </a:prstGeom>
          <a:solidFill>
            <a:srgbClr val="159447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600" dirty="0" b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/>
          </a:p>
        </p:txBody>
      </p:sp>
      <p:sp>
        <p:nvSpPr>
          <p:cNvPr id="13" name="Final label 2"/>
          <p:cNvSpPr txBox="1"/>
          <p:nvPr/>
        </p:nvSpPr>
        <p:spPr>
          <a:xfrm>
            <a:off x="4187952" y="2953512"/>
            <a:ext cx="196596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l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Коробка и предмет</a:t>
            </a:r>
            <a:endParaRPr lang="ru-RU"/>
          </a:p>
        </p:txBody>
      </p:sp>
      <p:sp>
        <p:nvSpPr>
          <p:cNvPr id="31" name="Arrow"/>
          <p:cNvSpPr txBox="1"/>
          <p:nvPr/>
        </p:nvSpPr>
        <p:spPr>
          <a:xfrm>
            <a:off x="6080760" y="3008376"/>
            <a:ext cx="256032" cy="3657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ctr" lvl="0" marB="0"/>
            <a:r>
              <a:rPr lang="ru-RU" sz="1800" dirty="0" b="1">
                <a:solidFill>
                  <a:srgbClr val="666D70"/>
                </a:solidFill>
                <a:latin typeface="Arial"/>
                <a:cs typeface="Arial"/>
              </a:rPr>
              <a:t>→</a:t>
            </a:r>
            <a:endParaRPr lang="ru-RU"/>
          </a:p>
        </p:txBody>
      </p:sp>
      <p:sp>
        <p:nvSpPr>
          <p:cNvPr id="14" name="Final number 3"/>
          <p:cNvSpPr txBox="1"/>
          <p:nvPr/>
        </p:nvSpPr>
        <p:spPr>
          <a:xfrm>
            <a:off x="6382512" y="2971800"/>
            <a:ext cx="502920" cy="502920"/>
          </a:xfrm>
          <a:prstGeom prst="roundRect">
            <a:avLst/>
          </a:prstGeom>
          <a:solidFill>
            <a:srgbClr val="159447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600" dirty="0" b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/>
          </a:p>
        </p:txBody>
      </p:sp>
      <p:sp>
        <p:nvSpPr>
          <p:cNvPr id="15" name="Final label 3"/>
          <p:cNvSpPr txBox="1"/>
          <p:nvPr/>
        </p:nvSpPr>
        <p:spPr>
          <a:xfrm>
            <a:off x="7022592" y="2953512"/>
            <a:ext cx="196596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l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Следующая цель</a:t>
            </a:r>
            <a:endParaRPr lang="ru-RU"/>
          </a:p>
        </p:txBody>
      </p:sp>
      <p:sp>
        <p:nvSpPr>
          <p:cNvPr id="32" name="Arrow"/>
          <p:cNvSpPr txBox="1"/>
          <p:nvPr/>
        </p:nvSpPr>
        <p:spPr>
          <a:xfrm>
            <a:off x="8915400" y="3008376"/>
            <a:ext cx="256032" cy="3657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ctr" lvl="0" marB="0"/>
            <a:r>
              <a:rPr lang="ru-RU" sz="1800" dirty="0" b="1">
                <a:solidFill>
                  <a:srgbClr val="666D70"/>
                </a:solidFill>
                <a:latin typeface="Arial"/>
                <a:cs typeface="Arial"/>
              </a:rPr>
              <a:t>→</a:t>
            </a:r>
            <a:endParaRPr lang="ru-RU"/>
          </a:p>
        </p:txBody>
      </p:sp>
      <p:sp>
        <p:nvSpPr>
          <p:cNvPr id="16" name="Final number 4"/>
          <p:cNvSpPr txBox="1"/>
          <p:nvPr/>
        </p:nvSpPr>
        <p:spPr>
          <a:xfrm>
            <a:off x="9217152" y="2971800"/>
            <a:ext cx="502920" cy="502920"/>
          </a:xfrm>
          <a:prstGeom prst="roundRect">
            <a:avLst/>
          </a:prstGeom>
          <a:solidFill>
            <a:srgbClr val="159447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600" dirty="0" b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/>
          </a:p>
        </p:txBody>
      </p:sp>
      <p:sp>
        <p:nvSpPr>
          <p:cNvPr id="17" name="Final label 4"/>
          <p:cNvSpPr txBox="1"/>
          <p:nvPr/>
        </p:nvSpPr>
        <p:spPr>
          <a:xfrm>
            <a:off x="9857232" y="2953512"/>
            <a:ext cx="1965960" cy="62179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l" lvl="0" marB="0"/>
            <a:r>
              <a:rPr lang="ru-RU" sz="1500" dirty="0" b="1">
                <a:solidFill>
                  <a:srgbClr val="1B1F23"/>
                </a:solidFill>
                <a:latin typeface="Arial"/>
                <a:cs typeface="Arial"/>
              </a:rPr>
              <a:t>Своя скидка</a:t>
            </a:r>
            <a:endParaRPr lang="ru-RU"/>
          </a:p>
        </p:txBody>
      </p:sp>
      <p:sp>
        <p:nvSpPr>
          <p:cNvPr id="40" name="Final statement"/>
          <p:cNvSpPr txBox="1"/>
          <p:nvPr/>
        </p:nvSpPr>
        <p:spPr>
          <a:xfrm>
            <a:off x="1097280" y="4251960"/>
            <a:ext cx="9994392" cy="1051560"/>
          </a:xfrm>
          <a:prstGeom prst="roundRect">
            <a:avLst/>
          </a:prstGeom>
          <a:solidFill>
            <a:srgbClr val="21312A"/>
          </a:solidFill>
          <a:ln w="12700">
            <a:noFill/>
            <a:prstDash val="solid"/>
          </a:ln>
        </p:spPr>
        <p:txBody>
          <a:bodyPr wrap="square" anchor="ctr" lIns="109728" tIns="91440" rIns="109728" bIns="73152"/>
          <a:lstStyle/>
          <a:p>
            <a:pPr algn="ctr" lvl="0" marB="0"/>
            <a:r>
              <a:rPr lang="ru-RU" sz="2100" dirty="0" b="1">
                <a:solidFill>
                  <a:srgbClr val="FFFFFF"/>
                </a:solidFill>
                <a:latin typeface="Arial"/>
                <a:cs typeface="Arial"/>
              </a:rPr>
              <a:t>X5 Чекпоинт превращает подарок сейчас</a:t>
            </a:r>
            <a:endParaRPr lang="ru-RU"/>
          </a:p>
          <a:p>
            <a:pPr algn="ctr" lvl="0" marB="0"/>
            <a:r>
              <a:rPr lang="ru-RU" sz="2400" dirty="0" b="1">
                <a:solidFill>
                  <a:srgbClr val="F4B942"/>
                </a:solidFill>
                <a:latin typeface="Arial"/>
                <a:cs typeface="Arial"/>
              </a:rPr>
              <a:t>в повод вернуться завтра.</a:t>
            </a:r>
            <a:endParaRPr lang="ru-RU"/>
          </a:p>
        </p:txBody>
      </p:sp>
      <p:sp>
        <p:nvSpPr>
          <p:cNvPr id="41" name="Next step"/>
          <p:cNvSpPr txBox="1"/>
          <p:nvPr/>
        </p:nvSpPr>
        <p:spPr>
          <a:xfrm>
            <a:off x="1188720" y="5806440"/>
            <a:ext cx="9811512" cy="32918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ctr" lvl="0" marB="0"/>
            <a:r>
              <a:rPr lang="ru-RU" sz="1500" dirty="0" b="1">
                <a:solidFill>
                  <a:srgbClr val="666D70"/>
                </a:solidFill>
                <a:latin typeface="Arial"/>
                <a:cs typeface="Arial"/>
              </a:rPr>
              <a:t>Следующий шаг: пилот на реальных данных и кампаниях X5</a:t>
            </a:r>
            <a:endParaRPr lang="ru-RU"/>
          </a:p>
        </p:txBody>
      </p:sp>
      <p:sp>
        <p:nvSpPr>
          <p:cNvPr id="42" name="Team final"/>
          <p:cNvSpPr txBox="1"/>
          <p:nvPr/>
        </p:nvSpPr>
        <p:spPr>
          <a:xfrm>
            <a:off x="530352" y="6419088"/>
            <a:ext cx="4114800" cy="228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anchor="t" lIns="0" tIns="0" rIns="0" bIns="0"/>
          <a:lstStyle/>
          <a:p>
            <a:pPr algn="l" lvl="0" marB="0"/>
            <a:r>
              <a:rPr lang="ru-RU" sz="1100" dirty="0">
                <a:solidFill>
                  <a:srgbClr val="666D70"/>
                </a:solidFill>
                <a:latin typeface="Arial"/>
                <a:cs typeface="Arial"/>
              </a:rPr>
              <a:t>Артемий · Григорий · Мария</a:t>
            </a:r>
            <a:endParaRPr lang="ru-RU"/>
          </a:p>
        </p:txBody>
      </p:sp>
      <p:sp>
        <p:nvSpPr>
          <p:cNvPr id="43" name="Slide number"/>
          <p:cNvSpPr txBox="1"/>
          <p:nvPr/>
        </p:nvSpPr>
        <p:spPr>
          <a:xfrm>
            <a:off x="11201400" y="6309360"/>
            <a:ext cx="438912" cy="320040"/>
          </a:xfrm>
          <a:prstGeom prst="roundRect">
            <a:avLst/>
          </a:prstGeom>
          <a:solidFill>
            <a:srgbClr val="E52329"/>
          </a:solidFill>
          <a:ln w="12700">
            <a:noFill/>
            <a:prstDash val="solid"/>
          </a:ln>
        </p:spPr>
        <p:txBody>
          <a:bodyPr wrap="square" anchor="ctr" lIns="0" tIns="0" rIns="0" bIns="0"/>
          <a:lstStyle/>
          <a:p>
            <a:pPr algn="ctr" lvl="0" marB="0"/>
            <a:r>
              <a:rPr lang="ru-RU" sz="1100" dirty="0" b="1">
                <a:solidFill>
                  <a:srgbClr val="FFFFFF"/>
                </a:solidFill>
                <a:latin typeface="Arial"/>
                <a:cs typeface="Arial"/>
              </a:rPr>
              <a:t>07</a:t>
            </a:r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692</Words>
  <Application>Microsoft Macintosh PowerPoint</Application>
  <DocSecurity>0</DocSecurity>
  <PresentationFormat>Widescreen</PresentationFormat>
  <Paragraphs>112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Office</cp:lastModifiedBy>
  <cp:revision>3</cp:revision>
  <dcterms:created xsi:type="dcterms:W3CDTF">2026-09-04T06:48:51Z</dcterms:created>
  <dcterms:modified xsi:type="dcterms:W3CDTF">2026-09-06T09:06:38Z</dcterms:modified>
</cp:coreProperties>
</file>