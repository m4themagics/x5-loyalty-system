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5"/>
    <p:sldId id="264" r:id="rId4"/>
    <p:sldId id="266" r:id="rId6"/>
    <p:sldId id="268" r:id="rId7"/>
    <p:sldId id="27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434"/>
    <p:restoredTop sz="94656"/>
  </p:normalViewPr>
  <p:slideViewPr>
    <p:cSldViewPr snapToGrid="0">
      <p:cViewPr varScale="1">
        <p:scale>
          <a:sx n="70" d="100"/>
          <a:sy n="70" d="100"/>
        </p:scale>
        <p:origin x="200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Открываем с одной фразы: это короткий маршрут от текущего чека до одного следующего визита.</a:t>
            </a:r>
          </a:p>
          <a:p>
            <a:endParaRPr/>
          </a:p>
          <a:p>
            <a:r>
              <a:t>[Sources]</a:t>
            </a:r>
          </a:p>
          <a:p>
            <a:r>
              <a:t>- Retained title illustration from the user-supplied deck; the original deck note states it was generated with OpenAI image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Прошлые игры X5 были длинными, а награды воспринимались как слабые — это исходное ограничение продукта, а не наш вывод из синтетики.</a:t>
            </a:r>
          </a:p>
          <a:p>
            <a:endParaRPr/>
          </a:p>
          <a:p>
            <a:r>
              <a:t>[Sources]</a:t>
            </a:r>
          </a:p>
          <a:p>
            <a:r>
              <a:t>- X5 case description and case-owner Q&amp;A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Recsys отвечает за допустимость и ожидаемый эффект. LLM только формулирует объяснение из безопасного JSON.</a:t>
            </a:r>
          </a:p>
          <a:p>
            <a:endParaRPr/>
          </a:p>
          <a:p>
            <a:r>
              <a:t>[Sources]</a:t>
            </a:r>
          </a:p>
          <a:p>
            <a:r>
              <a:t>- Profit-aware targeting: https://pubsonline.informs.org/doi/10.1287/mksc.2020.1229</a:t>
            </a:r>
          </a:p>
          <a:p>
            <a:r>
              <a:t>- X5 case requirements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Главное изменение: текущий чек уже даёт стартовый прогресс; путь не начинается с нуля.</a:t>
            </a:r>
          </a:p>
          <a:p>
            <a:endParaRPr/>
          </a:p>
          <a:p>
            <a:r>
              <a:t>[Sources]</a:t>
            </a:r>
          </a:p>
          <a:p>
            <a:r>
              <a:t>- Goal-gradient study: https://journals.sagepub.com/doi/abs/10.1509/jmkr.43.1.39</a:t>
            </a:r>
          </a:p>
          <a:p>
            <a:r>
              <a:t>- Endowed progress effect: https://papers.ssrn.com/sol3/papers.cfm?abstract_id=991962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Единственный первичный сигнал пока n=1; он изменил направление, но не подтверждает спрос.</a:t>
            </a:r>
          </a:p>
          <a:p>
            <a:endParaRPr/>
          </a:p>
          <a:p>
            <a:r>
              <a:t>[Sources]</a:t>
            </a:r>
          </a:p>
          <a:p>
            <a:r>
              <a:t>- Team interview note supplied by the user, 03.09.2026. Sample size: n=1.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пилоте нужны четыре группы с одинаковым reward budget: BAU; generic wheel; personalized reward-only; full Checkpoint.</a:t>
            </a:r>
          </a:p>
          <a:p>
            <a:endParaRPr/>
          </a:p>
          <a:p>
            <a:r>
              <a:t>[Sources]</a:t>
            </a:r>
          </a:p>
          <a:p>
            <a:r>
              <a:t>- X5 expected proof-of-concept and target metric supplied by the user, 03.09.2026.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Финальный тезис: мы проверяем добавочную ценность игры отдельно от ценности самого приза.</a:t>
            </a:r>
          </a:p>
          <a:p>
            <a:endParaRPr/>
          </a:p>
          <a:p>
            <a:r>
              <a:t>[Sources]</a:t>
            </a:r>
          </a:p>
          <a:p>
            <a:r>
              <a:t>- Product synthesis based on the case materials and cited research in slides 2, 4, 6, and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">
            <a:extLst>
              <a:ext uri="{FF2B5EF4-FFF2-40B4-BE49-F238E27FC236}">
                <a16:creationId xmlns:a16="http://schemas.microsoft.com/office/drawing/2014/main" id="{A50FFC07-B789-4933-BD7B-D8A360EF38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EFAD0BDF-C948-48DB-A9F1-2F7791537C27}"/>
              </a:ext>
            </a:extLst>
          </p:cNvPr>
          <p:cNvSpPr>
            <a:spLocks noGrp="1"/>
          </p:cNvSpPr>
          <p:nvPr/>
        </p:nvSpPr>
        <p:spPr>
          <a:xfrm>
            <a:off x="552450" y="514350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DEMO DAY · X5 ЧЕКПОИНТ</a:t>
            </a:r>
          </a:p>
        </p:txBody>
      </p:sp>
      <p:sp>
        <p:nvSpPr>
          <p:cNvPr id="3" name="deck-title">
            <a:extLst>
              <a:ext uri="{FF2B5EF4-FFF2-40B4-BE49-F238E27FC236}">
                <a16:creationId xmlns:a16="http://schemas.microsoft.com/office/drawing/2014/main" id="{C5C5BF88-09E6-4BEE-A34E-A5E2179AB531}"/>
              </a:ext>
            </a:extLst>
          </p:cNvPr>
          <p:cNvSpPr>
            <a:spLocks noGrp="1"/>
          </p:cNvSpPr>
          <p:nvPr/>
        </p:nvSpPr>
        <p:spPr>
          <a:xfrm>
            <a:off x="552450" y="1257300"/>
            <a:ext cx="4953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X5 Чекпоинт</a:t>
            </a:r>
          </a:p>
          <a:p>
            <a:pPr algn="l">
              <a:buNone/>
              <a:defRPr sz="435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Собирай свою выгоду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39AE1A1D-E53C-4F88-9932-E1F53D2B95D2}"/>
              </a:ext>
            </a:extLst>
          </p:cNvPr>
          <p:cNvSpPr>
            <a:spLocks noGrp="1"/>
          </p:cNvSpPr>
          <p:nvPr/>
        </p:nvSpPr>
        <p:spPr>
          <a:xfrm>
            <a:off x="552450" y="316230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Покупка → коробка → предмет. Четыре предмета → выбранная скидка.</a:t>
            </a:r>
          </a:p>
        </p:txBody>
      </p:sp>
      <p:sp>
        <p:nvSpPr>
          <p:cNvPr id="5" name="rect">
            <a:extLst>
              <a:ext uri="{FF2B5EF4-FFF2-40B4-BE49-F238E27FC236}">
                <a16:creationId xmlns:a16="http://schemas.microsoft.com/office/drawing/2014/main" id="{A22AD0AF-8497-495A-A1E9-E7232A730CC3}"/>
              </a:ext>
            </a:extLst>
          </p:cNvPr>
          <p:cNvSpPr>
            <a:spLocks noGrp="1"/>
          </p:cNvSpPr>
          <p:nvPr/>
        </p:nvSpPr>
        <p:spPr>
          <a:xfrm>
            <a:off x="552450" y="5238750"/>
            <a:ext cx="3905250" cy="495300"/>
          </a:xfrm>
          <a:prstGeom prst="roundRect">
            <a:avLst>
              <a:gd name="adj" fmla="val 23077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35D5DCA-8BFE-4763-B70F-7689B8C16FF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Артемий · Григорий · Мария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rcRect l="21955" r="21955"/>
          <a:stretch>
            <a:fillRect/>
          </a:stretch>
        </p:blipFill>
        <p:spPr>
          <a:xfrm>
            <a:off x="6057900" y="400050"/>
            <a:ext cx="5619750" cy="5638800"/>
          </a:xfrm>
          <a:prstGeom prst="roundRect">
            <a:avLst>
              <a:gd name="adj" fmla="val 4068"/>
            </a:avLst>
          </a:prstGeom>
        </p:spPr>
      </p:pic>
      <p:sp>
        <p:nvSpPr>
          <p:cNvPr id="8" name="text">
            <a:extLst>
              <a:ext uri="{FF2B5EF4-FFF2-40B4-BE49-F238E27FC236}">
                <a16:creationId xmlns:a16="http://schemas.microsoft.com/office/drawing/2014/main" id="{2FEA2884-6C9B-402E-962B-D876ED2177F4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8184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kicker">
            <a:extLst>
              <a:ext uri="{FF2B5EF4-FFF2-40B4-BE49-F238E27FC236}">
                <a16:creationId xmlns:a16="http://schemas.microsoft.com/office/drawing/2014/main" id="{CC81ABE7-F101-48D7-8812-3FA6D24FF4A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ПРОДУКТ И ЦЕННОСТЬ · 0:00–1:00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F7089AC-31EE-4D72-9453-B5EF0309F0AE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Подарок привлекает; коллекция возвращает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3EA46DCD-D356-4013-A14F-70601D58F250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6E0B8F11-DB97-48DC-912C-42624F629210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AFA8C73-8A91-4C48-BC1B-F3D79365C9C6}"/>
              </a:ext>
            </a:extLst>
          </p:cNvPr>
          <p:cNvSpPr>
            <a:spLocks noGrp="1"/>
          </p:cNvSpPr>
          <p:nvPr/>
        </p:nvSpPr>
        <p:spPr>
          <a:xfrm>
            <a:off x="533400" y="1676400"/>
            <a:ext cx="10668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Для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пользователей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приложения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с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нерегулярными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визитами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card-Прогресс невидим">
            <a:extLst>
              <a:ext uri="{FF2B5EF4-FFF2-40B4-BE49-F238E27FC236}">
                <a16:creationId xmlns:a16="http://schemas.microsoft.com/office/drawing/2014/main" id="{CA4E4129-1FAE-4B85-87BD-B3DF8E65DE34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FCEBEC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ccent-Прогресс невидим">
            <a:extLst>
              <a:ext uri="{FF2B5EF4-FFF2-40B4-BE49-F238E27FC236}">
                <a16:creationId xmlns:a16="http://schemas.microsoft.com/office/drawing/2014/main" id="{F62A09D4-9CA5-4E70-86C1-25C07F767B8E}"/>
              </a:ext>
            </a:extLst>
          </p:cNvPr>
          <p:cNvSpPr>
            <a:spLocks noGrp="1"/>
          </p:cNvSpPr>
          <p:nvPr/>
        </p:nvSpPr>
        <p:spPr>
          <a:xfrm>
            <a:off x="533400" y="2686050"/>
            <a:ext cx="76200" cy="28575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047F683-21A5-45FB-99EC-F7ED6D836688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 · Результат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D4A5A02-51D1-4950-B4C3-0B268196FE04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Заранее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видны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бесплатный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товар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и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цифровой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предмет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" name="card-Магазин обезличен">
            <a:extLst>
              <a:ext uri="{FF2B5EF4-FFF2-40B4-BE49-F238E27FC236}">
                <a16:creationId xmlns:a16="http://schemas.microsoft.com/office/drawing/2014/main" id="{906B0F44-ED2F-43A8-9F65-86D6C8E758CA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accent-Магазин обезличен">
            <a:extLst>
              <a:ext uri="{FF2B5EF4-FFF2-40B4-BE49-F238E27FC236}">
                <a16:creationId xmlns:a16="http://schemas.microsoft.com/office/drawing/2014/main" id="{0D07DF07-441A-458D-8333-D35326F75FB0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76200" cy="2857500"/>
          </a:xfrm>
          <a:prstGeom prst="rect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7439358-6E0B-49DA-957D-5374AA7F81FD}"/>
              </a:ext>
            </a:extLst>
          </p:cNvPr>
          <p:cNvSpPr>
            <a:spLocks noGrp="1"/>
          </p:cNvSpPr>
          <p:nvPr/>
        </p:nvSpPr>
        <p:spPr>
          <a:xfrm>
            <a:off x="46291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 · Возврат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341A7D0-FF66-44AE-9154-A4911D4C91E4}"/>
              </a:ext>
            </a:extLst>
          </p:cNvPr>
          <p:cNvSpPr>
            <a:spLocks noGrp="1"/>
          </p:cNvSpPr>
          <p:nvPr/>
        </p:nvSpPr>
        <p:spPr>
          <a:xfrm>
            <a:off x="46291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24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предмета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, 7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рецептов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;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дубликат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можно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обменять</a:t>
            </a:r>
            <a:r>
              <a:rPr sz="24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4" name="card-Сообщество отсутствует">
            <a:extLst>
              <a:ext uri="{FF2B5EF4-FFF2-40B4-BE49-F238E27FC236}">
                <a16:creationId xmlns:a16="http://schemas.microsoft.com/office/drawing/2014/main" id="{74DC1C5B-24DF-4B10-B195-6082788849EA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429000" cy="28575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accent-Сообщество отсутствует">
            <a:extLst>
              <a:ext uri="{FF2B5EF4-FFF2-40B4-BE49-F238E27FC236}">
                <a16:creationId xmlns:a16="http://schemas.microsoft.com/office/drawing/2014/main" id="{089DCB72-6F24-457A-A13F-AA3AA28BFCA8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76200" cy="28575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FC965646-5A35-4ACF-965A-487494C087F2}"/>
              </a:ext>
            </a:extLst>
          </p:cNvPr>
          <p:cNvSpPr>
            <a:spLocks noGrp="1"/>
          </p:cNvSpPr>
          <p:nvPr/>
        </p:nvSpPr>
        <p:spPr>
          <a:xfrm>
            <a:off x="8477250" y="2933700"/>
            <a:ext cx="2971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3 · X5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99537ADF-0ED6-4DCA-95A8-FB06C200936F}"/>
              </a:ext>
            </a:extLst>
          </p:cNvPr>
          <p:cNvSpPr>
            <a:spLocks noGrp="1"/>
          </p:cNvSpPr>
          <p:nvPr/>
        </p:nvSpPr>
        <p:spPr>
          <a:xfrm>
            <a:off x="8477250" y="3429000"/>
            <a:ext cx="29718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 lnSpcReduction="20000"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Полное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обеспечение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; 5/5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прогонов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в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плюсе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, +3 845 ₽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на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0" dirty="0" err="1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когорту</a:t>
            </a:r>
            <a:r>
              <a:rPr sz="3000" b="0" dirty="0">
                <a:solidFill>
                  <a:srgbClr val="5F636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6993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82BD572C-687F-4545-83CF-5EBA5C6F06B1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ТЕХНИКА · 3:10–4:10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F354DE3-E729-47E5-97EF-B31747A40705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Выбор, финансирование и текст разделены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B28DBF55-05CF-4D69-916D-8F12F646FC2A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91C83278-432F-45AC-BFE3-FF8BE258A396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F020784-FC3F-44E9-A82C-1CAD7351EC04}"/>
              </a:ext>
            </a:extLst>
          </p:cNvPr>
          <p:cNvSpPr>
            <a:spLocks noGrp="1"/>
          </p:cNvSpPr>
          <p:nvPr/>
        </p:nvSpPr>
        <p:spPr>
          <a:xfrm>
            <a:off x="533400" y="152400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React/Vite → Zod/JSON → Python: RecSys → Ads → Qwen</a:t>
            </a:r>
          </a:p>
        </p:txBody>
      </p:sp>
      <p:sp>
        <p:nvSpPr>
          <p:cNvPr id="6" name="rect">
            <a:extLst>
              <a:ext uri="{FF2B5EF4-FFF2-40B4-BE49-F238E27FC236}">
                <a16:creationId xmlns:a16="http://schemas.microsoft.com/office/drawing/2014/main" id="{F42E12DE-8865-4B68-9DF8-F54890AF712A}"/>
              </a:ext>
            </a:extLst>
          </p:cNvPr>
          <p:cNvSpPr>
            <a:spLocks noGrp="1"/>
          </p:cNvSpPr>
          <p:nvPr/>
        </p:nvSpPr>
        <p:spPr>
          <a:xfrm>
            <a:off x="5334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FCEBEC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6B3938F-EA4C-4E55-BDC1-7F8107187779}"/>
              </a:ext>
            </a:extLst>
          </p:cNvPr>
          <p:cNvSpPr>
            <a:spLocks noGrp="1"/>
          </p:cNvSpPr>
          <p:nvPr/>
        </p:nvSpPr>
        <p:spPr>
          <a:xfrm>
            <a:off x="8001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RecSys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767C7B0-C3E0-4A57-9584-AF302A13A0F8}"/>
              </a:ext>
            </a:extLst>
          </p:cNvPr>
          <p:cNvSpPr>
            <a:spLocks noGrp="1"/>
          </p:cNvSpPr>
          <p:nvPr/>
        </p:nvSpPr>
        <p:spPr>
          <a:xfrm>
            <a:off x="8001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Rules live → offer / no_action. Uplift — offline.</a:t>
            </a:r>
          </a:p>
        </p:txBody>
      </p:sp>
      <p:sp>
        <p:nvSpPr>
          <p:cNvPr id="9" name="rect">
            <a:extLst>
              <a:ext uri="{FF2B5EF4-FFF2-40B4-BE49-F238E27FC236}">
                <a16:creationId xmlns:a16="http://schemas.microsoft.com/office/drawing/2014/main" id="{7E6BEDFD-2A14-495D-8B28-DC8BCD6B0559}"/>
              </a:ext>
            </a:extLst>
          </p:cNvPr>
          <p:cNvSpPr>
            <a:spLocks noGrp="1"/>
          </p:cNvSpPr>
          <p:nvPr/>
        </p:nvSpPr>
        <p:spPr>
          <a:xfrm>
            <a:off x="43815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EAF3FF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F781BD7-ED97-4955-AA98-C2B059E9CB57}"/>
              </a:ext>
            </a:extLst>
          </p:cNvPr>
          <p:cNvSpPr>
            <a:spLocks noGrp="1"/>
          </p:cNvSpPr>
          <p:nvPr/>
        </p:nvSpPr>
        <p:spPr>
          <a:xfrm>
            <a:off x="46482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Ads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10764DA3-3E3B-4ED6-9DB9-8CFEB7856057}"/>
              </a:ext>
            </a:extLst>
          </p:cNvPr>
          <p:cNvSpPr>
            <a:spLocks noGrp="1"/>
          </p:cNvSpPr>
          <p:nvPr/>
        </p:nvSpPr>
        <p:spPr>
          <a:xfrm>
            <a:off x="46482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Фильтры → победитель → резерв → один CPA.</a:t>
            </a:r>
          </a:p>
        </p:txBody>
      </p:sp>
      <p:sp>
        <p:nvSpPr>
          <p:cNvPr id="12" name="rect">
            <a:extLst>
              <a:ext uri="{FF2B5EF4-FFF2-40B4-BE49-F238E27FC236}">
                <a16:creationId xmlns:a16="http://schemas.microsoft.com/office/drawing/2014/main" id="{0319AC17-4CE2-4E09-AC56-8BC9E95A5F35}"/>
              </a:ext>
            </a:extLst>
          </p:cNvPr>
          <p:cNvSpPr>
            <a:spLocks noGrp="1"/>
          </p:cNvSpPr>
          <p:nvPr/>
        </p:nvSpPr>
        <p:spPr>
          <a:xfrm>
            <a:off x="8229600" y="2857500"/>
            <a:ext cx="3429000" cy="2667000"/>
          </a:xfrm>
          <a:prstGeom prst="roundRect">
            <a:avLst>
              <a:gd name="adj" fmla="val 6429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 sz="2000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6E9EDC1D-098B-44E3-9B65-7C434BB5B172}"/>
              </a:ext>
            </a:extLst>
          </p:cNvPr>
          <p:cNvSpPr>
            <a:spLocks noGrp="1"/>
          </p:cNvSpPr>
          <p:nvPr/>
        </p:nvSpPr>
        <p:spPr>
          <a:xfrm>
            <a:off x="8496300" y="3276600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F7FBA72-BE93-4A44-8AC5-06ED1F93ED03}"/>
              </a:ext>
            </a:extLst>
          </p:cNvPr>
          <p:cNvSpPr>
            <a:spLocks noGrp="1"/>
          </p:cNvSpPr>
          <p:nvPr/>
        </p:nvSpPr>
        <p:spPr>
          <a:xfrm>
            <a:off x="8496300" y="4200000"/>
            <a:ext cx="2895600" cy="1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Qwen пишет заголовок. Условия проверяет схема.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6AEDBF9-95B9-4337-A404-1FF138D7B1F9}"/>
              </a:ext>
            </a:extLst>
          </p:cNvPr>
          <p:cNvSpPr>
            <a:spLocks noGrp="1"/>
          </p:cNvSpPr>
          <p:nvPr/>
        </p:nvSpPr>
        <p:spPr>
          <a:xfrm>
            <a:off x="533400" y="5924550"/>
            <a:ext cx="9906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1132579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kicker">
            <a:extLst>
              <a:ext uri="{FF2B5EF4-FFF2-40B4-BE49-F238E27FC236}">
                <a16:creationId xmlns:a16="http://schemas.microsoft.com/office/drawing/2014/main" id="{9B9E0B94-3096-4506-ADB3-35FAAC6D89E4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LIVE-ДЕМО · 1:00–3:10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1285FDD-8DA1-4E36-A7D0-6C0A7F57A006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Один путь связывает покупку, игру и выгоду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73E6F727-0D22-47D1-AF63-AD221F582572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B669A70C-7642-4E95-BD6D-45905E4D8664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42C1D7B-F12A-4AC8-85AC-4070B52CBAEB}"/>
              </a:ext>
            </a:extLst>
          </p:cNvPr>
          <p:cNvSpPr>
            <a:spLocks noGrp="1"/>
          </p:cNvSpPr>
          <p:nvPr/>
        </p:nvSpPr>
        <p:spPr>
          <a:xfrm>
            <a:off x="533400" y="1600200"/>
            <a:ext cx="1066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16"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Показываем путь без ожидания на двух профилях.</a:t>
            </a:r>
          </a:p>
        </p:txBody>
      </p:sp>
      <p:sp>
        <p:nvSpPr>
          <p:cNvPr id="6" name="connector-0">
            <a:extLst>
              <a:ext uri="{FF2B5EF4-FFF2-40B4-BE49-F238E27FC236}">
                <a16:creationId xmlns:a16="http://schemas.microsoft.com/office/drawing/2014/main" id="{DD3350BC-C095-43C8-92E5-411372410267}"/>
              </a:ext>
            </a:extLst>
          </p:cNvPr>
          <p:cNvSpPr>
            <a:spLocks noGrp="1"/>
          </p:cNvSpPr>
          <p:nvPr/>
        </p:nvSpPr>
        <p:spPr>
          <a:xfrm>
            <a:off x="209550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rrow-0">
            <a:extLst>
              <a:ext uri="{FF2B5EF4-FFF2-40B4-BE49-F238E27FC236}">
                <a16:creationId xmlns:a16="http://schemas.microsoft.com/office/drawing/2014/main" id="{674FD27F-AB8A-431D-8411-7E9DE21DC2B1}"/>
              </a:ext>
            </a:extLst>
          </p:cNvPr>
          <p:cNvSpPr>
            <a:spLocks noGrp="1"/>
          </p:cNvSpPr>
          <p:nvPr/>
        </p:nvSpPr>
        <p:spPr>
          <a:xfrm>
            <a:off x="249555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8" name="connector-1">
            <a:extLst>
              <a:ext uri="{FF2B5EF4-FFF2-40B4-BE49-F238E27FC236}">
                <a16:creationId xmlns:a16="http://schemas.microsoft.com/office/drawing/2014/main" id="{3DAEBC94-7573-4D1E-9302-0EBE1FDBB2F9}"/>
              </a:ext>
            </a:extLst>
          </p:cNvPr>
          <p:cNvSpPr>
            <a:spLocks noGrp="1"/>
          </p:cNvSpPr>
          <p:nvPr/>
        </p:nvSpPr>
        <p:spPr>
          <a:xfrm>
            <a:off x="443865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arrow-1">
            <a:extLst>
              <a:ext uri="{FF2B5EF4-FFF2-40B4-BE49-F238E27FC236}">
                <a16:creationId xmlns:a16="http://schemas.microsoft.com/office/drawing/2014/main" id="{F7E321EA-009E-40B2-B082-CE5F9F43A711}"/>
              </a:ext>
            </a:extLst>
          </p:cNvPr>
          <p:cNvSpPr>
            <a:spLocks noGrp="1"/>
          </p:cNvSpPr>
          <p:nvPr/>
        </p:nvSpPr>
        <p:spPr>
          <a:xfrm>
            <a:off x="483870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0" name="connector-2">
            <a:extLst>
              <a:ext uri="{FF2B5EF4-FFF2-40B4-BE49-F238E27FC236}">
                <a16:creationId xmlns:a16="http://schemas.microsoft.com/office/drawing/2014/main" id="{787F3404-9F6C-4BEC-B91A-2AB777EF0894}"/>
              </a:ext>
            </a:extLst>
          </p:cNvPr>
          <p:cNvSpPr>
            <a:spLocks noGrp="1"/>
          </p:cNvSpPr>
          <p:nvPr/>
        </p:nvSpPr>
        <p:spPr>
          <a:xfrm>
            <a:off x="678180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arrow-2">
            <a:extLst>
              <a:ext uri="{FF2B5EF4-FFF2-40B4-BE49-F238E27FC236}">
                <a16:creationId xmlns:a16="http://schemas.microsoft.com/office/drawing/2014/main" id="{FEADED1F-E742-416F-811B-2820B26FD66B}"/>
              </a:ext>
            </a:extLst>
          </p:cNvPr>
          <p:cNvSpPr>
            <a:spLocks noGrp="1"/>
          </p:cNvSpPr>
          <p:nvPr/>
        </p:nvSpPr>
        <p:spPr>
          <a:xfrm>
            <a:off x="718185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2" name="connector-3">
            <a:extLst>
              <a:ext uri="{FF2B5EF4-FFF2-40B4-BE49-F238E27FC236}">
                <a16:creationId xmlns:a16="http://schemas.microsoft.com/office/drawing/2014/main" id="{7ECDBC81-1AEF-4188-BD27-8C715B149F1C}"/>
              </a:ext>
            </a:extLst>
          </p:cNvPr>
          <p:cNvSpPr>
            <a:spLocks noGrp="1"/>
          </p:cNvSpPr>
          <p:nvPr/>
        </p:nvSpPr>
        <p:spPr>
          <a:xfrm>
            <a:off x="9124950" y="3619500"/>
            <a:ext cx="666750" cy="0"/>
          </a:xfrm>
          <a:prstGeom prst="line">
            <a:avLst/>
          </a:prstGeom>
          <a:noFill/>
          <a:ln w="2857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arrow-3">
            <a:extLst>
              <a:ext uri="{FF2B5EF4-FFF2-40B4-BE49-F238E27FC236}">
                <a16:creationId xmlns:a16="http://schemas.microsoft.com/office/drawing/2014/main" id="{FE49F4C9-09C8-4327-B422-4433A3EB43C4}"/>
              </a:ext>
            </a:extLst>
          </p:cNvPr>
          <p:cNvSpPr>
            <a:spLocks noGrp="1"/>
          </p:cNvSpPr>
          <p:nvPr/>
        </p:nvSpPr>
        <p:spPr>
          <a:xfrm>
            <a:off x="9525000" y="3486150"/>
            <a:ext cx="266700" cy="2667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lIns="0" tIns="0" rIns="0" bIns="0" anchor="ctr">
            <a:normAutofit fontScale="76246" lnSpcReduction="10000"/>
          </a:bodyPr>
          <a:lstStyle/>
          <a:p>
            <a:pPr algn="ctr">
              <a:buNone/>
              <a:defRPr sz="18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4" name="circle">
            <a:extLst>
              <a:ext uri="{FF2B5EF4-FFF2-40B4-BE49-F238E27FC236}">
                <a16:creationId xmlns:a16="http://schemas.microsoft.com/office/drawing/2014/main" id="{D2ABE025-7314-4F4A-B2F1-50D9FD40285F}"/>
              </a:ext>
            </a:extLst>
          </p:cNvPr>
          <p:cNvSpPr>
            <a:spLocks noGrp="1"/>
          </p:cNvSpPr>
          <p:nvPr/>
        </p:nvSpPr>
        <p:spPr>
          <a:xfrm>
            <a:off x="4572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B140115F-7EBA-42B4-80ED-2A04C80B4975}"/>
              </a:ext>
            </a:extLst>
          </p:cNvPr>
          <p:cNvSpPr>
            <a:spLocks noGrp="1"/>
          </p:cNvSpPr>
          <p:nvPr/>
        </p:nvSpPr>
        <p:spPr>
          <a:xfrm>
            <a:off x="2476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История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D3A6DE3F-A7AD-41CE-BB59-F735EE0B2B56}"/>
              </a:ext>
            </a:extLst>
          </p:cNvPr>
          <p:cNvSpPr>
            <a:spLocks noGrp="1"/>
          </p:cNvSpPr>
          <p:nvPr/>
        </p:nvSpPr>
        <p:spPr>
          <a:xfrm>
            <a:off x="2476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+ инвентарь</a:t>
            </a:r>
          </a:p>
        </p:txBody>
      </p:sp>
      <p:sp>
        <p:nvSpPr>
          <p:cNvPr id="17" name="circle">
            <a:extLst>
              <a:ext uri="{FF2B5EF4-FFF2-40B4-BE49-F238E27FC236}">
                <a16:creationId xmlns:a16="http://schemas.microsoft.com/office/drawing/2014/main" id="{A4C1A6D5-8ABD-4FA5-A1DA-5C079AD41BC5}"/>
              </a:ext>
            </a:extLst>
          </p:cNvPr>
          <p:cNvSpPr>
            <a:spLocks noGrp="1"/>
          </p:cNvSpPr>
          <p:nvPr/>
        </p:nvSpPr>
        <p:spPr>
          <a:xfrm>
            <a:off x="280035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F3DA5AD-591D-4DAD-8D99-D8C59F24B6BF}"/>
              </a:ext>
            </a:extLst>
          </p:cNvPr>
          <p:cNvSpPr>
            <a:spLocks noGrp="1"/>
          </p:cNvSpPr>
          <p:nvPr/>
        </p:nvSpPr>
        <p:spPr>
          <a:xfrm>
            <a:off x="259080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RecSys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1BA8A99B-6C79-42F9-A097-7057F684E4A6}"/>
              </a:ext>
            </a:extLst>
          </p:cNvPr>
          <p:cNvSpPr>
            <a:spLocks noGrp="1"/>
          </p:cNvSpPr>
          <p:nvPr/>
        </p:nvSpPr>
        <p:spPr>
          <a:xfrm>
            <a:off x="259080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Ads-победитель</a:t>
            </a:r>
          </a:p>
        </p:txBody>
      </p:sp>
      <p:sp>
        <p:nvSpPr>
          <p:cNvPr id="20" name="circle">
            <a:extLst>
              <a:ext uri="{FF2B5EF4-FFF2-40B4-BE49-F238E27FC236}">
                <a16:creationId xmlns:a16="http://schemas.microsoft.com/office/drawing/2014/main" id="{917397FB-C038-4283-B4EE-2EC1F21C1D03}"/>
              </a:ext>
            </a:extLst>
          </p:cNvPr>
          <p:cNvSpPr>
            <a:spLocks noGrp="1"/>
          </p:cNvSpPr>
          <p:nvPr/>
        </p:nvSpPr>
        <p:spPr>
          <a:xfrm>
            <a:off x="51435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1BBE8ED5-C817-44F3-B31D-D1068FE458FE}"/>
              </a:ext>
            </a:extLst>
          </p:cNvPr>
          <p:cNvSpPr>
            <a:spLocks noGrp="1"/>
          </p:cNvSpPr>
          <p:nvPr/>
        </p:nvSpPr>
        <p:spPr>
          <a:xfrm>
            <a:off x="49339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Чек + коробка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EDD389D9-C898-4732-B544-A948DCA5DDA1}"/>
              </a:ext>
            </a:extLst>
          </p:cNvPr>
          <p:cNvSpPr>
            <a:spLocks noGrp="1"/>
          </p:cNvSpPr>
          <p:nvPr/>
        </p:nvSpPr>
        <p:spPr>
          <a:xfrm>
            <a:off x="49339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награда один раз</a:t>
            </a:r>
          </a:p>
        </p:txBody>
      </p:sp>
      <p:sp>
        <p:nvSpPr>
          <p:cNvPr id="23" name="circle">
            <a:extLst>
              <a:ext uri="{FF2B5EF4-FFF2-40B4-BE49-F238E27FC236}">
                <a16:creationId xmlns:a16="http://schemas.microsoft.com/office/drawing/2014/main" id="{88492812-4210-4B7D-9EE6-7E8651E5460A}"/>
              </a:ext>
            </a:extLst>
          </p:cNvPr>
          <p:cNvSpPr>
            <a:spLocks noGrp="1"/>
          </p:cNvSpPr>
          <p:nvPr/>
        </p:nvSpPr>
        <p:spPr>
          <a:xfrm>
            <a:off x="7486650" y="3143250"/>
            <a:ext cx="914400" cy="914400"/>
          </a:xfrm>
          <a:prstGeom prst="ellipse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657BFF53-3CE0-4905-BCC9-04D4A613F566}"/>
              </a:ext>
            </a:extLst>
          </p:cNvPr>
          <p:cNvSpPr>
            <a:spLocks noGrp="1"/>
          </p:cNvSpPr>
          <p:nvPr/>
        </p:nvSpPr>
        <p:spPr>
          <a:xfrm>
            <a:off x="727710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Обмен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033D5A71-FFC0-43E3-AA80-CA166261981D}"/>
              </a:ext>
            </a:extLst>
          </p:cNvPr>
          <p:cNvSpPr>
            <a:spLocks noGrp="1"/>
          </p:cNvSpPr>
          <p:nvPr/>
        </p:nvSpPr>
        <p:spPr>
          <a:xfrm>
            <a:off x="727710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или задание</a:t>
            </a:r>
          </a:p>
        </p:txBody>
      </p:sp>
      <p:sp>
        <p:nvSpPr>
          <p:cNvPr id="26" name="circle">
            <a:extLst>
              <a:ext uri="{FF2B5EF4-FFF2-40B4-BE49-F238E27FC236}">
                <a16:creationId xmlns:a16="http://schemas.microsoft.com/office/drawing/2014/main" id="{B3BA54D2-9B60-46E2-A745-FB5BAF591EE4}"/>
              </a:ext>
            </a:extLst>
          </p:cNvPr>
          <p:cNvSpPr>
            <a:spLocks noGrp="1"/>
          </p:cNvSpPr>
          <p:nvPr/>
        </p:nvSpPr>
        <p:spPr>
          <a:xfrm>
            <a:off x="9829800" y="3143250"/>
            <a:ext cx="914400" cy="9144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51922099-09F8-4423-B4C2-6902EFA748A6}"/>
              </a:ext>
            </a:extLst>
          </p:cNvPr>
          <p:cNvSpPr>
            <a:spLocks noGrp="1"/>
          </p:cNvSpPr>
          <p:nvPr/>
        </p:nvSpPr>
        <p:spPr>
          <a:xfrm>
            <a:off x="9620250" y="4305300"/>
            <a:ext cx="171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Крафт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C309B2A1-E987-4032-BF89-73C4B07B251B}"/>
              </a:ext>
            </a:extLst>
          </p:cNvPr>
          <p:cNvSpPr>
            <a:spLocks noGrp="1"/>
          </p:cNvSpPr>
          <p:nvPr/>
        </p:nvSpPr>
        <p:spPr>
          <a:xfrm>
            <a:off x="9620250" y="4900000"/>
            <a:ext cx="17145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скидка 8%</a:t>
            </a:r>
          </a:p>
        </p:txBody>
      </p:sp>
    </p:spTree>
    <p:extLst>
      <p:ext uri="{BB962C8B-B14F-4D97-AF65-F5344CB8AC3E}">
        <p14:creationId xmlns:p14="http://schemas.microsoft.com/office/powerpoint/2010/main" val="606833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kicker">
            <a:extLst>
              <a:ext uri="{FF2B5EF4-FFF2-40B4-BE49-F238E27FC236}">
                <a16:creationId xmlns:a16="http://schemas.microsoft.com/office/drawing/2014/main" id="{7348C9C6-3804-49BD-9C40-ED373DBAFA6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ДОКАЗАТЕЛЬСТВА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6C276D1-EDB6-4E41-94E0-6AC7C28CAF61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Финансируемая игра лидирует в сравнении политик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A9AD8973-CF23-454E-9901-E1633F9188F5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2EAC27C3-3E9E-4AAF-8784-79C1DF74C802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">
            <a:extLst>
              <a:ext uri="{FF2B5EF4-FFF2-40B4-BE49-F238E27FC236}">
                <a16:creationId xmlns:a16="http://schemas.microsoft.com/office/drawing/2014/main" id="{DCC47E5F-A061-43BC-AA8B-CACBEB01C8C8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5219700" cy="4000500"/>
          </a:xfrm>
          <a:prstGeom prst="roundRect">
            <a:avLst>
              <a:gd name="adj" fmla="val 4286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1DAABBCD-9188-4336-A78F-66C053E5F75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Работает локально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AC6DF1C6-898A-4992-8E9D-ECCCEFCD077D}"/>
              </a:ext>
            </a:extLst>
          </p:cNvPr>
          <p:cNvSpPr>
            <a:spLocks noGrp="1"/>
          </p:cNvSpPr>
          <p:nvPr/>
        </p:nvSpPr>
        <p:spPr>
          <a:xfrm>
            <a:off x="838200" y="2600000"/>
            <a:ext cx="4286250" cy="30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276 проверок · 16 E2E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40/40 решений по зафиксированной рубрике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8/8 корректных no_action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✓ LLM: 60/60 атак · 24/24 текста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">
            <a:extLst>
              <a:ext uri="{FF2B5EF4-FFF2-40B4-BE49-F238E27FC236}">
                <a16:creationId xmlns:a16="http://schemas.microsoft.com/office/drawing/2014/main" id="{9BB33861-B925-48C6-AC14-E173561810D6}"/>
              </a:ext>
            </a:extLst>
          </p:cNvPr>
          <p:cNvSpPr>
            <a:spLocks noGrp="1"/>
          </p:cNvSpPr>
          <p:nvPr/>
        </p:nvSpPr>
        <p:spPr>
          <a:xfrm>
            <a:off x="6057900" y="1714500"/>
            <a:ext cx="5600700" cy="4000500"/>
          </a:xfrm>
          <a:prstGeom prst="roundRect">
            <a:avLst>
              <a:gd name="adj" fmla="val 4286"/>
            </a:avLst>
          </a:prstGeom>
          <a:solidFill>
            <a:srgbClr val="FFF4D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D4FCA87E-38F9-4FD2-9AF9-19C6EFF64F2C}"/>
              </a:ext>
            </a:extLst>
          </p:cNvPr>
          <p:cNvSpPr>
            <a:spLocks noGrp="1"/>
          </p:cNvSpPr>
          <p:nvPr/>
        </p:nvSpPr>
        <p:spPr>
          <a:xfrm>
            <a:off x="6362700" y="20764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B56B0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56B00"/>
                </a:solidFill>
                <a:latin typeface="Arial"/>
                <a:ea typeface="Arial"/>
                <a:cs typeface="Arial"/>
              </a:rPr>
              <a:t>Синтетика · сравнение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B0D71B6-661A-4212-8249-4BFB37DA52F9}"/>
              </a:ext>
            </a:extLst>
          </p:cNvPr>
          <p:cNvSpPr>
            <a:spLocks noGrp="1"/>
          </p:cNvSpPr>
          <p:nvPr/>
        </p:nvSpPr>
        <p:spPr>
          <a:xfrm>
            <a:off x="6362700" y="2600000"/>
            <a:ext cx="4762500" cy="30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Funded: +3 845 ₽/когорту · 5/5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+20,6 дня · охват 20,4%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broad −7 996 ₽ · fixed +1 025 ₽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learned +18 665 ₽ · rules +13 534 ₽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21212"/>
                </a:solidFill>
                <a:latin typeface="Arial"/>
                <a:ea typeface="Arial"/>
                <a:cs typeface="Arial"/>
              </a:rPr>
              <a:t>• fixed −6 791 ₽ · learned выше 5/5</a:t>
            </a:r>
          </a:p>
          <a:p>
            <a:pPr algn="l">
              <a:buNone/>
              <a:defRPr sz="3000" b="0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endParaRPr sz="3000" b="0">
              <a:solidFill>
                <a:srgbClr val="121212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372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>
            <a:extLst>
              <a:ext uri="{FF2B5EF4-FFF2-40B4-BE49-F238E27FC236}">
                <a16:creationId xmlns:a16="http://schemas.microsoft.com/office/drawing/2014/main" id="{1075F359-AC2E-4408-9FF2-66930CC8AC06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42A2D"/>
                </a:solidFill>
                <a:latin typeface="Arial"/>
                <a:ea typeface="Arial"/>
                <a:cs typeface="Arial"/>
              </a:rPr>
              <a:t>ГОТОВНОСТЬ · 4:10–4:40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C308E3A-AE1F-443D-9FB6-61B245723394}"/>
              </a:ext>
            </a:extLst>
          </p:cNvPr>
          <p:cNvSpPr>
            <a:spLocks noGrp="1"/>
          </p:cNvSpPr>
          <p:nvPr/>
        </p:nvSpPr>
        <p:spPr>
          <a:xfrm>
            <a:off x="533400" y="62865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Следующий шаг — проверить вклад игры на данных X5</a:t>
            </a:r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BA46723-4F5D-44BC-ABCC-6776758E6ED3}"/>
              </a:ext>
            </a:extLst>
          </p:cNvPr>
          <p:cNvSpPr>
            <a:spLocks noGrp="1"/>
          </p:cNvSpPr>
          <p:nvPr/>
        </p:nvSpPr>
        <p:spPr>
          <a:xfrm>
            <a:off x="533400" y="1381125"/>
            <a:ext cx="11125200" cy="0"/>
          </a:xfrm>
          <a:prstGeom prst="line">
            <a:avLst/>
          </a:prstGeom>
          <a:noFill/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">
            <a:extLst>
              <a:ext uri="{FF2B5EF4-FFF2-40B4-BE49-F238E27FC236}">
                <a16:creationId xmlns:a16="http://schemas.microsoft.com/office/drawing/2014/main" id="{13C798B6-358D-4924-9013-D0A84B4A771B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line">
            <a:extLst>
              <a:ext uri="{FF2B5EF4-FFF2-40B4-BE49-F238E27FC236}">
                <a16:creationId xmlns:a16="http://schemas.microsoft.com/office/drawing/2014/main" id="{F44A6EF3-A437-4FE2-9233-6C581B1D1F73}"/>
              </a:ext>
            </a:extLst>
          </p:cNvPr>
          <p:cNvSpPr>
            <a:spLocks noGrp="1"/>
          </p:cNvSpPr>
          <p:nvPr/>
        </p:nvSpPr>
        <p:spPr>
          <a:xfrm>
            <a:off x="533400" y="5391150"/>
            <a:ext cx="11125200" cy="0"/>
          </a:xfrm>
          <a:prstGeom prst="line">
            <a:avLst/>
          </a:prstGeom>
          <a:noFill/>
          <a:ln w="9525">
            <a:solidFill>
              <a:srgbClr val="1212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">
            <a:extLst>
              <a:ext uri="{FF2B5EF4-FFF2-40B4-BE49-F238E27FC236}">
                <a16:creationId xmlns:a16="http://schemas.microsoft.com/office/drawing/2014/main" id="{7AA7BE90-915E-4E57-8D2D-6D80FE62B093}"/>
              </a:ext>
            </a:extLst>
          </p:cNvPr>
          <p:cNvSpPr>
            <a:spLocks noGrp="1"/>
          </p:cNvSpPr>
          <p:nvPr/>
        </p:nvSpPr>
        <p:spPr>
          <a:xfrm>
            <a:off x="5334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A4719A47-45D9-4E25-B8EB-91D27398240B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1 · Сделано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AEFE5DF-D356-4171-A38E-D09D75EC3A73}"/>
              </a:ext>
            </a:extLst>
          </p:cNvPr>
          <p:cNvSpPr>
            <a:spLocks noGrp="1"/>
          </p:cNvSpPr>
          <p:nvPr/>
        </p:nvSpPr>
        <p:spPr>
          <a:xfrm>
            <a:off x="8001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Коробка · челлендж · Ads · обмен · крафт</a:t>
            </a:r>
          </a:p>
        </p:txBody>
      </p:sp>
      <p:sp>
        <p:nvSpPr>
          <p:cNvPr id="9" name="circle">
            <a:extLst>
              <a:ext uri="{FF2B5EF4-FFF2-40B4-BE49-F238E27FC236}">
                <a16:creationId xmlns:a16="http://schemas.microsoft.com/office/drawing/2014/main" id="{656C4E8E-392A-47B9-B90D-500C8FC404B3}"/>
              </a:ext>
            </a:extLst>
          </p:cNvPr>
          <p:cNvSpPr>
            <a:spLocks noGrp="1"/>
          </p:cNvSpPr>
          <p:nvPr/>
        </p:nvSpPr>
        <p:spPr>
          <a:xfrm>
            <a:off x="533400" y="5295900"/>
            <a:ext cx="190500" cy="1905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7BD2ABA-6B22-4D84-A80A-73AB4B448AB4}"/>
              </a:ext>
            </a:extLst>
          </p:cNvPr>
          <p:cNvSpPr>
            <a:spLocks noGrp="1"/>
          </p:cNvSpPr>
          <p:nvPr/>
        </p:nvSpPr>
        <p:spPr>
          <a:xfrm>
            <a:off x="5334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1" name="rect">
            <a:extLst>
              <a:ext uri="{FF2B5EF4-FFF2-40B4-BE49-F238E27FC236}">
                <a16:creationId xmlns:a16="http://schemas.microsoft.com/office/drawing/2014/main" id="{A38300AD-DB71-411A-92B8-01A182D7AD52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63CFC4A-6BE8-4363-9A0A-334CFEFEAFDC}"/>
              </a:ext>
            </a:extLst>
          </p:cNvPr>
          <p:cNvSpPr>
            <a:spLocks noGrp="1"/>
          </p:cNvSpPr>
          <p:nvPr/>
        </p:nvSpPr>
        <p:spPr>
          <a:xfrm>
            <a:off x="46482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2 · Проверено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BED886C-1BDB-4157-89CA-3C9B1CB19497}"/>
              </a:ext>
            </a:extLst>
          </p:cNvPr>
          <p:cNvSpPr>
            <a:spLocks noGrp="1"/>
          </p:cNvSpPr>
          <p:nvPr/>
        </p:nvSpPr>
        <p:spPr>
          <a:xfrm>
            <a:off x="46482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Выдача · CPA · резервы · симуляция</a:t>
            </a:r>
          </a:p>
        </p:txBody>
      </p:sp>
      <p:sp>
        <p:nvSpPr>
          <p:cNvPr id="14" name="circle">
            <a:extLst>
              <a:ext uri="{FF2B5EF4-FFF2-40B4-BE49-F238E27FC236}">
                <a16:creationId xmlns:a16="http://schemas.microsoft.com/office/drawing/2014/main" id="{BB811C79-716E-4864-9028-0A5FFCAA3DDD}"/>
              </a:ext>
            </a:extLst>
          </p:cNvPr>
          <p:cNvSpPr>
            <a:spLocks noGrp="1"/>
          </p:cNvSpPr>
          <p:nvPr/>
        </p:nvSpPr>
        <p:spPr>
          <a:xfrm>
            <a:off x="4381500" y="5295900"/>
            <a:ext cx="190500" cy="190500"/>
          </a:xfrm>
          <a:prstGeom prst="ellipse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C3FF02D-07A2-4FD1-AD9D-C0D62D75D8E6}"/>
              </a:ext>
            </a:extLst>
          </p:cNvPr>
          <p:cNvSpPr>
            <a:spLocks noGrp="1"/>
          </p:cNvSpPr>
          <p:nvPr/>
        </p:nvSpPr>
        <p:spPr>
          <a:xfrm>
            <a:off x="43815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E42A2D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6" name="rect">
            <a:extLst>
              <a:ext uri="{FF2B5EF4-FFF2-40B4-BE49-F238E27FC236}">
                <a16:creationId xmlns:a16="http://schemas.microsoft.com/office/drawing/2014/main" id="{02F2726D-5E87-48FB-980D-B63E6F717478}"/>
              </a:ext>
            </a:extLst>
          </p:cNvPr>
          <p:cNvSpPr>
            <a:spLocks noGrp="1"/>
          </p:cNvSpPr>
          <p:nvPr/>
        </p:nvSpPr>
        <p:spPr>
          <a:xfrm>
            <a:off x="8229600" y="1714500"/>
            <a:ext cx="3429000" cy="3238500"/>
          </a:xfrm>
          <a:prstGeom prst="roundRect">
            <a:avLst>
              <a:gd name="adj" fmla="val 5294"/>
            </a:avLst>
          </a:prstGeom>
          <a:solidFill>
            <a:srgbClr val="EAF5EB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D89672B-982D-48BC-917A-59379ABB8672}"/>
              </a:ext>
            </a:extLst>
          </p:cNvPr>
          <p:cNvSpPr>
            <a:spLocks noGrp="1"/>
          </p:cNvSpPr>
          <p:nvPr/>
        </p:nvSpPr>
        <p:spPr>
          <a:xfrm>
            <a:off x="8496300" y="2095500"/>
            <a:ext cx="28956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D9D54"/>
                </a:solidFill>
                <a:latin typeface="Arial"/>
                <a:ea typeface="Arial"/>
                <a:cs typeface="Arial"/>
              </a:rPr>
              <a:t>3 · Пилот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ED499358-62E4-41B2-BC60-ED41BA54E951}"/>
              </a:ext>
            </a:extLst>
          </p:cNvPr>
          <p:cNvSpPr>
            <a:spLocks noGrp="1"/>
          </p:cNvSpPr>
          <p:nvPr/>
        </p:nvSpPr>
        <p:spPr>
          <a:xfrm>
            <a:off x="8496300" y="3009900"/>
            <a:ext cx="28956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Логи X5 · SKU · серверный учёт · POS · A/B</a:t>
            </a:r>
          </a:p>
        </p:txBody>
      </p:sp>
      <p:sp>
        <p:nvSpPr>
          <p:cNvPr id="19" name="circle">
            <a:extLst>
              <a:ext uri="{FF2B5EF4-FFF2-40B4-BE49-F238E27FC236}">
                <a16:creationId xmlns:a16="http://schemas.microsoft.com/office/drawing/2014/main" id="{2305AFD1-9E56-436C-B957-645443813355}"/>
              </a:ext>
            </a:extLst>
          </p:cNvPr>
          <p:cNvSpPr>
            <a:spLocks noGrp="1"/>
          </p:cNvSpPr>
          <p:nvPr/>
        </p:nvSpPr>
        <p:spPr>
          <a:xfrm>
            <a:off x="8229600" y="5295900"/>
            <a:ext cx="190500" cy="190500"/>
          </a:xfrm>
          <a:prstGeom prst="ellipse">
            <a:avLst/>
          </a:prstGeom>
          <a:solidFill>
            <a:srgbClr val="4D9D54"/>
          </a:solidFill>
          <a:ln w="0">
            <a:noFill/>
            <a:prstDash val="solid"/>
          </a:ln>
        </p:spPr>
        <p:txBody>
          <a:bodyPr lIns="0" tIns="0" rIns="0" bIns="0" anchor="ctr">
            <a:normAutofit fontScale="55000" lnSpcReduction="20000"/>
          </a:bodyPr>
          <a:lstStyle/>
          <a:p>
            <a:endParaRPr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AD313B9-EB2D-4002-BBA6-27F836E702A4}"/>
              </a:ext>
            </a:extLst>
          </p:cNvPr>
          <p:cNvSpPr>
            <a:spLocks noGrp="1"/>
          </p:cNvSpPr>
          <p:nvPr/>
        </p:nvSpPr>
        <p:spPr>
          <a:xfrm>
            <a:off x="8229600" y="56769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4D9D54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260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">
            <a:extLst>
              <a:ext uri="{FF2B5EF4-FFF2-40B4-BE49-F238E27FC236}">
                <a16:creationId xmlns:a16="http://schemas.microsoft.com/office/drawing/2014/main" id="{19662F96-5E5C-4793-8039-0FAE21CE7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42A2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4E5F97A8-A8DF-4D32-9E4C-165FCD793337}"/>
              </a:ext>
            </a:extLst>
          </p:cNvPr>
          <p:cNvSpPr>
            <a:spLocks noGrp="1"/>
          </p:cNvSpPr>
          <p:nvPr/>
        </p:nvSpPr>
        <p:spPr>
          <a:xfrm>
            <a:off x="666750" y="742950"/>
            <a:ext cx="857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 Чекпоинт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D5071274-E4AE-4B2A-A24A-000CA15C130D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94297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E8E8E8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E8E8E8"/>
                </a:solidFill>
                <a:latin typeface="Arial"/>
                <a:ea typeface="Arial"/>
                <a:cs typeface="Arial"/>
              </a:rPr>
              <a:t>Награда запускает визит. Коллекция создаёт следующий шаг.</a:t>
            </a:r>
          </a:p>
        </p:txBody>
      </p:sp>
      <p:sp>
        <p:nvSpPr>
          <p:cNvPr id="4" name="line">
            <a:extLst>
              <a:ext uri="{FF2B5EF4-FFF2-40B4-BE49-F238E27FC236}">
                <a16:creationId xmlns:a16="http://schemas.microsoft.com/office/drawing/2014/main" id="{46F208A6-EA9B-4968-BF5A-37BBFBCE2B81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3028950" cy="0"/>
          </a:xfrm>
          <a:prstGeom prst="line">
            <a:avLst/>
          </a:prstGeom>
          <a:noFill/>
          <a:ln w="57150">
            <a:solidFill>
              <a:srgbClr val="E42A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BAF605B8-F0B2-45DF-BCFD-DAE862E5DE0A}"/>
              </a:ext>
            </a:extLst>
          </p:cNvPr>
          <p:cNvSpPr>
            <a:spLocks noGrp="1"/>
          </p:cNvSpPr>
          <p:nvPr/>
        </p:nvSpPr>
        <p:spPr>
          <a:xfrm>
            <a:off x="66675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Пользователю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16975EF-7810-41E0-9D0F-EF393394E0B3}"/>
              </a:ext>
            </a:extLst>
          </p:cNvPr>
          <p:cNvSpPr>
            <a:spLocks noGrp="1"/>
          </p:cNvSpPr>
          <p:nvPr/>
        </p:nvSpPr>
        <p:spPr>
          <a:xfrm>
            <a:off x="66675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Товар сейчас; выгода дальше.</a:t>
            </a:r>
          </a:p>
        </p:txBody>
      </p:sp>
      <p:sp>
        <p:nvSpPr>
          <p:cNvPr id="7" name="line">
            <a:extLst>
              <a:ext uri="{FF2B5EF4-FFF2-40B4-BE49-F238E27FC236}">
                <a16:creationId xmlns:a16="http://schemas.microsoft.com/office/drawing/2014/main" id="{B3884B85-5106-4D57-B407-C7DD9A17419C}"/>
              </a:ext>
            </a:extLst>
          </p:cNvPr>
          <p:cNvSpPr>
            <a:spLocks noGrp="1"/>
          </p:cNvSpPr>
          <p:nvPr/>
        </p:nvSpPr>
        <p:spPr>
          <a:xfrm>
            <a:off x="4381500" y="3429000"/>
            <a:ext cx="3028950" cy="0"/>
          </a:xfrm>
          <a:prstGeom prst="line">
            <a:avLst/>
          </a:prstGeom>
          <a:noFill/>
          <a:ln w="57150">
            <a:solidFill>
              <a:srgbClr val="4D9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931B715-6223-4C3F-9E35-9F2582161962}"/>
              </a:ext>
            </a:extLst>
          </p:cNvPr>
          <p:cNvSpPr>
            <a:spLocks noGrp="1"/>
          </p:cNvSpPr>
          <p:nvPr/>
        </p:nvSpPr>
        <p:spPr>
          <a:xfrm>
            <a:off x="438150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X5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D5436455-3208-487B-9034-D89333305D4B}"/>
              </a:ext>
            </a:extLst>
          </p:cNvPr>
          <p:cNvSpPr>
            <a:spLocks noGrp="1"/>
          </p:cNvSpPr>
          <p:nvPr/>
        </p:nvSpPr>
        <p:spPr>
          <a:xfrm>
            <a:off x="438150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Резерв до показа. Иначе — стоп.</a:t>
            </a:r>
          </a:p>
        </p:txBody>
      </p:sp>
      <p:sp>
        <p:nvSpPr>
          <p:cNvPr id="10" name="line">
            <a:extLst>
              <a:ext uri="{FF2B5EF4-FFF2-40B4-BE49-F238E27FC236}">
                <a16:creationId xmlns:a16="http://schemas.microsoft.com/office/drawing/2014/main" id="{B9C34FA7-5B22-4C8F-A92B-C5C66B952173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3028950" cy="0"/>
          </a:xfrm>
          <a:prstGeom prst="line">
            <a:avLst/>
          </a:prstGeom>
          <a:noFill/>
          <a:ln w="5715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515C5C51-9C7A-47C2-AEC1-B3394B24F927}"/>
              </a:ext>
            </a:extLst>
          </p:cNvPr>
          <p:cNvSpPr>
            <a:spLocks noGrp="1"/>
          </p:cNvSpPr>
          <p:nvPr/>
        </p:nvSpPr>
        <p:spPr>
          <a:xfrm>
            <a:off x="8096250" y="3752850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Бренду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1947EC45-8718-4F9F-876A-2134A7EE905A}"/>
              </a:ext>
            </a:extLst>
          </p:cNvPr>
          <p:cNvSpPr>
            <a:spLocks noGrp="1"/>
          </p:cNvSpPr>
          <p:nvPr/>
        </p:nvSpPr>
        <p:spPr>
          <a:xfrm>
            <a:off x="8096250" y="4200000"/>
            <a:ext cx="302895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000" b="0">
                <a:solidFill>
                  <a:srgbClr val="BFC3C7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BFC3C7"/>
                </a:solidFill>
                <a:latin typeface="Arial"/>
                <a:ea typeface="Arial"/>
                <a:cs typeface="Arial"/>
              </a:rPr>
              <a:t>Платит только за результат.</a:t>
            </a:r>
          </a:p>
        </p:txBody>
      </p:sp>
      <p:sp>
        <p:nvSpPr>
          <p:cNvPr id="13" name="rect">
            <a:extLst>
              <a:ext uri="{FF2B5EF4-FFF2-40B4-BE49-F238E27FC236}">
                <a16:creationId xmlns:a16="http://schemas.microsoft.com/office/drawing/2014/main" id="{F4BE18A1-1E80-4F87-9B1D-3BBB203E3253}"/>
              </a:ext>
            </a:extLst>
          </p:cNvPr>
          <p:cNvSpPr>
            <a:spLocks noGrp="1"/>
          </p:cNvSpPr>
          <p:nvPr/>
        </p:nvSpPr>
        <p:spPr>
          <a:xfrm>
            <a:off x="666750" y="5300000"/>
            <a:ext cx="10000000" cy="120000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0E9777B-8A21-49F4-8A7A-661D2A082C7F}"/>
              </a:ext>
            </a:extLst>
          </p:cNvPr>
          <p:cNvSpPr>
            <a:spLocks noGrp="1"/>
          </p:cNvSpPr>
          <p:nvPr/>
        </p:nvSpPr>
        <p:spPr>
          <a:xfrm>
            <a:off x="876300" y="5450000"/>
            <a:ext cx="9500000" cy="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5887" lnSpcReduction="20000"/>
          </a:bodyPr>
          <a:lstStyle/>
          <a:p>
            <a:pPr algn="l">
              <a:buNone/>
              <a:defRPr sz="3000" b="1">
                <a:solidFill>
                  <a:srgbClr val="121212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1212"/>
                </a:solidFill>
                <a:latin typeface="Arial"/>
                <a:ea typeface="Arial"/>
                <a:cs typeface="Arial"/>
              </a:rPr>
              <a:t>X5 Чекпоинт превращает подарок сейчас в повод вернуться завтра.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D2343AA9-9FF7-4D91-A485-9A9F040049A2}"/>
              </a:ext>
            </a:extLst>
          </p:cNvPr>
          <p:cNvSpPr>
            <a:spLocks noGrp="1"/>
          </p:cNvSpPr>
          <p:nvPr/>
        </p:nvSpPr>
        <p:spPr>
          <a:xfrm>
            <a:off x="11353800" y="6419850"/>
            <a:ext cx="304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75" b="0">
                <a:solidFill>
                  <a:srgbClr val="A8ADB2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8ADB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628811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687</Words>
  <Application>Microsoft Macintosh PowerPoint</Application>
  <DocSecurity>0</DocSecurity>
  <PresentationFormat>Widescreen</PresentationFormat>
  <Paragraphs>112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Office</cp:lastModifiedBy>
  <cp:revision>2</cp:revision>
  <dcterms:created xsi:type="dcterms:W3CDTF">2026-09-04T06:48:51Z</dcterms:created>
  <dcterms:modified xsi:type="dcterms:W3CDTF">2026-09-06T08:56:55Z</dcterms:modified>
</cp:coreProperties>
</file>