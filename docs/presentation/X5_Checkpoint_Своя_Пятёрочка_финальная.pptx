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5"/>
    <p:sldId id="264" r:id="rId10"/>
    <p:sldId id="266" r:id="rId12"/>
    <p:sldId id="268" r:id="rId14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>
      <p:cViewPr varScale="1">
        <p:scale>
          <a:sx n="112" d="100"/>
          <a:sy n="112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Открываем с одной фразы: это короткий маршрут от текущего чека до одного следующего визита.</a:t>
            </a:r>
          </a:p>
          <a:p>
            <a:endParaRPr/>
          </a:p>
          <a:p>
            <a:r>
              <a:t>[Sources]</a:t>
            </a:r>
          </a:p>
          <a:p>
            <a:r>
              <a:t>- Retained title illustration from the user-supplied deck; the original deck note states it was generated with OpenAI image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Прошлые игры X5 были длинными, а награды воспринимались как слабые — это исходное ограничение продукта, а не наш вывод из синтетики.</a:t>
            </a:r>
          </a:p>
          <a:p>
            <a:endParaRPr/>
          </a:p>
          <a:p>
            <a:r>
              <a:t>[Sources]</a:t>
            </a:r>
          </a:p>
          <a:p>
            <a:r>
              <a:t>- X5 case description and case-owner Q&amp;A supplied by the user, 03.09.2026.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условия успеха: быстро для человека, заметно как игра, положительно по марже.</a:t>
            </a:r>
          </a:p>
          <a:p>
            <a:endParaRPr/>
          </a:p>
          <a:p>
            <a:r>
              <a:t>[Sources]</a:t>
            </a:r>
          </a:p>
          <a:p>
            <a:r>
              <a:t>- X5 case description and success criteria supplied by the user, 03.09.2026.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Главное изменение: текущий чек уже даёт стартовый прогресс; путь не начинается с нуля.</a:t>
            </a:r>
          </a:p>
          <a:p>
            <a:endParaRPr/>
          </a:p>
          <a:p>
            <a:r>
              <a:t>[Sources]</a:t>
            </a:r>
          </a:p>
          <a:p>
            <a:r>
              <a:t>- Goal-gradient study: https://journals.sagepub.com/doi/abs/10.1509/jmkr.43.1.39</a:t>
            </a:r>
          </a:p>
          <a:p>
            <a:r>
              <a:t>- Endowed progress effect: https://papers.ssrn.com/sol3/papers.cfm?abstract_id=991962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Прокачка персонажа здесь отвечает на вопрос пользователя «что изменилось после моего чека?», а не продаёт статус за высокий расход.</a:t>
            </a:r>
          </a:p>
          <a:p>
            <a:endParaRPr/>
          </a:p>
          <a:p>
            <a:r>
              <a:t>[Sources]</a:t>
            </a:r>
          </a:p>
          <a:p>
            <a:r>
              <a:t>- Goal-gradient study: https://journals.sagepub.com/doi/abs/10.1509/jmkr.43.1.39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Колесо остаётся знакомой оболочкой, но все сектора гарантированы и предварительно отфильтрованы; физический приз может не появиться при отрицательной экономике.</a:t>
            </a:r>
          </a:p>
          <a:p>
            <a:endParaRPr/>
          </a:p>
          <a:p>
            <a:r>
              <a:t>[Sources]</a:t>
            </a:r>
          </a:p>
          <a:p>
            <a:r>
              <a:t>- Profit-aware targeting: https://pubsonline.informs.org/doi/10.1287/mksc.2020.1229</a:t>
            </a:r>
          </a:p>
          <a:p>
            <a:r>
              <a:t>- Product mechanics are team hypotheses to be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Семья получает полезное действие — передать уже заработанную ценность. Магазин остаётся мета-слоем и не блокирует личную награду.</a:t>
            </a:r>
          </a:p>
          <a:p>
            <a:endParaRPr/>
          </a:p>
          <a:p>
            <a:r>
              <a:t>[Sources]</a:t>
            </a:r>
          </a:p>
          <a:p>
            <a:r>
              <a:t>- GS25 My Refrigerator adoption example: https://view.asiae.co.kr/en/article/2021061408363290618</a:t>
            </a:r>
          </a:p>
          <a:p>
            <a:r>
              <a:t>- X5 local-layer mechanics are team hypotheses to be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Маша — синтетическая демонстрационная персона; этот сценарий не выдаётся за результат пользовательского теста.</a:t>
            </a:r>
          </a:p>
          <a:p>
            <a:endParaRPr/>
          </a:p>
          <a:p>
            <a:r>
              <a:t>[Sources]</a:t>
            </a:r>
          </a:p>
          <a:p>
            <a:r>
              <a:t>- Synthetic illustrative scenario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Recsys отвечает за допустимость и ожидаемый эффект. LLM только формулирует объяснение из безопасного JSON.</a:t>
            </a:r>
          </a:p>
          <a:p>
            <a:endParaRPr/>
          </a:p>
          <a:p>
            <a:r>
              <a:t>[Sources]</a:t>
            </a:r>
          </a:p>
          <a:p>
            <a:r>
              <a:t>- Profit-aware targeting: https://pubsonline.informs.org/doi/10.1287/mksc.2020.1229</a:t>
            </a:r>
          </a:p>
          <a:p>
            <a:r>
              <a:t>- X5 case requirements supplied by the user, 03.09.2026.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концептуальные wireframes, а не скриншоты готового промышленного интерфейса.</a:t>
            </a:r>
          </a:p>
          <a:p>
            <a:endParaRPr/>
          </a:p>
          <a:p>
            <a:r>
              <a:t>[Sources]</a:t>
            </a:r>
          </a:p>
          <a:p>
            <a:r>
              <a:t>- Concept screens adapted from the user-supplied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Единственный первичный сигнал пока n=1; он изменил направление, но не подтверждает спрос.</a:t>
            </a:r>
          </a:p>
          <a:p>
            <a:endParaRPr/>
          </a:p>
          <a:p>
            <a:r>
              <a:t>[Sources]</a:t>
            </a:r>
          </a:p>
          <a:p>
            <a:r>
              <a:t>- Team interview note supplied by the user, 03.09.2026. Sample size: n=1.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Каждый риск связан с наблюдаемым правилом или метрикой MVP.</a:t>
            </a:r>
          </a:p>
          <a:p>
            <a:endParaRPr/>
          </a:p>
          <a:p>
            <a:r>
              <a:t>[Sources]</a:t>
            </a:r>
          </a:p>
          <a:p>
            <a:r>
              <a:t>- X5 case success and rejection criteria supplied by the user, 03.09.2026.</a:t>
            </a:r>
          </a:p>
          <a:p>
            <a:r>
              <a:t>- Mitigations are team hypotheses to be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пилоте нужны четыре группы с одинаковым reward budget: BAU; generic wheel; personalized reward-only; full Checkpoint.</a:t>
            </a:r>
          </a:p>
          <a:p>
            <a:endParaRPr/>
          </a:p>
          <a:p>
            <a:r>
              <a:t>[Sources]</a:t>
            </a:r>
          </a:p>
          <a:p>
            <a:r>
              <a:t>- X5 expected proof-of-concept and target metric supplied by the user, 03.09.2026.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Состав команды подтверждён: 3 человека — 1 AI Product и 2 AI Engineer. Перед отправкой нужно вписать три ФИО, фактически выполненные задачи и степень участия каждого. Разделение двух инженерных контуров пока предложено как рабочее и должно быть сверено с командой.</a:t>
            </a:r>
          </a:p>
          <a:p>
            <a:endParaRPr/>
          </a:p>
          <a:p>
            <a:r>
              <a:t>[Sources]</a:t>
            </a:r>
          </a:p>
          <a:p>
            <a:r>
              <a:t>- Team composition supplied by the user, 03.09.2026.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Финальный тезис: мы проверяем добавочную ценность игры отдельно от ценности самого приза.</a:t>
            </a:r>
          </a:p>
          <a:p>
            <a:endParaRPr/>
          </a:p>
          <a:p>
            <a:r>
              <a:t>[Sources]</a:t>
            </a:r>
          </a:p>
          <a:p>
            <a:r>
              <a:t>- Product synthesis based on the case materials and cited research in slides 2, 4, 6, and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">
            <a:extLst>
              <a:ext uri="{FF2B5EF4-FFF2-40B4-BE49-F238E27FC236}">
                <a16:creationId xmlns:a16="http://schemas.microsoft.com/office/drawing/2014/main" id="{A50FFC07-B789-4933-BD7B-D8A360EF38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FAD0BDF-C948-48DB-A9F1-2F7791537C27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DEMO DAY · X5 ЧЕКПОИНТ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C5C5BF88-09E6-4BEE-A34E-A5E2179AB531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495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X5 Чекпоинт</a:t>
            </a:r>
          </a:p>
          <a:p>
            <a:pPr algn="l">
              <a:buNone/>
              <a:defRPr sz="4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Собирай свою выгоду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9AE1A1D-E53C-4F88-9932-E1F53D2B95D2}"/>
              </a:ext>
            </a:extLst>
          </p:cNvPr>
          <p:cNvSpPr>
            <a:spLocks noGrp="1"/>
          </p:cNvSpPr>
          <p:nvPr/>
        </p:nvSpPr>
        <p:spPr>
          <a:xfrm>
            <a:off x="552450" y="316230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Покупка → предмет. Четыре предмета → выбранная скидка.</a:t>
            </a:r>
          </a:p>
        </p:txBody>
      </p:sp>
      <p:sp>
        <p:nvSpPr>
          <p:cNvPr id="5" name="rect">
            <a:extLst>
              <a:ext uri="{FF2B5EF4-FFF2-40B4-BE49-F238E27FC236}">
                <a16:creationId xmlns:a16="http://schemas.microsoft.com/office/drawing/2014/main" id="{A22AD0AF-8497-495A-A1E9-E7232A730CC3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3905250" cy="495300"/>
          </a:xfrm>
          <a:prstGeom prst="roundRect">
            <a:avLst>
              <a:gd name="adj" fmla="val 23077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35D5DCA-8BFE-4763-B70F-7689B8C16FF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Артемий · Григорий · Мария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21955" r="21955"/>
          <a:stretch>
            <a:fillRect/>
          </a:stretch>
        </p:blipFill>
        <p:spPr>
          <a:xfrm>
            <a:off x="6057900" y="400050"/>
            <a:ext cx="5619750" cy="5638800"/>
          </a:xfrm>
          <a:prstGeom prst="roundRect">
            <a:avLst>
              <a:gd name="adj" fmla="val 4068"/>
            </a:avLst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2FEA2884-6C9B-402E-962B-D876ED2177F4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184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CC81ABE7-F101-48D7-8812-3FA6D24FF4A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ПРОДУКТ И ЦЕННОСТЬ · 0:00–1:00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F7089AC-31EE-4D72-9453-B5EF0309F0A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Подарок привлекает; коллекция возвращает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3EA46DCD-D356-4013-A14F-70601D58F250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6E0B8F11-DB97-48DC-912C-42624F629210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AFA8C73-8A91-4C48-BC1B-F3D79365C9C6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Для пользователей приложения с нерегулярными визитами.</a:t>
            </a:r>
          </a:p>
        </p:txBody>
      </p:sp>
      <p:sp>
        <p:nvSpPr>
          <p:cNvPr id="6" name="card-Прогресс невидим">
            <a:extLst>
              <a:ext uri="{FF2B5EF4-FFF2-40B4-BE49-F238E27FC236}">
                <a16:creationId xmlns:a16="http://schemas.microsoft.com/office/drawing/2014/main" id="{CA4E4129-1FAE-4B85-87BD-B3DF8E65DE34}"/>
              </a:ext>
            </a:extLst>
          </p:cNvPr>
          <p:cNvSpPr>
            <a:spLocks noGrp="1"/>
          </p:cNvSpPr>
          <p:nvPr/>
        </p:nvSpPr>
        <p:spPr>
          <a:xfrm>
            <a:off x="533400" y="2686050"/>
            <a:ext cx="3429000" cy="2857500"/>
          </a:xfrm>
          <a:prstGeom prst="roundRect">
            <a:avLst>
              <a:gd name="adj" fmla="val 6000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ccent-Прогресс невидим">
            <a:extLst>
              <a:ext uri="{FF2B5EF4-FFF2-40B4-BE49-F238E27FC236}">
                <a16:creationId xmlns:a16="http://schemas.microsoft.com/office/drawing/2014/main" id="{F62A09D4-9CA5-4E70-86C1-25C07F767B8E}"/>
              </a:ext>
            </a:extLst>
          </p:cNvPr>
          <p:cNvSpPr>
            <a:spLocks noGrp="1"/>
          </p:cNvSpPr>
          <p:nvPr/>
        </p:nvSpPr>
        <p:spPr>
          <a:xfrm>
            <a:off x="533400" y="2686050"/>
            <a:ext cx="76200" cy="2857500"/>
          </a:xfrm>
          <a:prstGeom prst="rect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047F683-21A5-45FB-99EC-F7ED6D836688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1 · Результат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D4A5A02-51D1-4950-B4C3-0B268196FE04}"/>
              </a:ext>
            </a:extLst>
          </p:cNvPr>
          <p:cNvSpPr>
            <a:spLocks noGrp="1"/>
          </p:cNvSpPr>
          <p:nvPr/>
        </p:nvSpPr>
        <p:spPr>
          <a:xfrm>
            <a:off x="781050" y="3429000"/>
            <a:ext cx="2971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Заранее видны бесплатный товар и цифровой предмет.</a:t>
            </a:r>
          </a:p>
        </p:txBody>
      </p:sp>
      <p:sp>
        <p:nvSpPr>
          <p:cNvPr id="10" name="card-Магазин обезличен">
            <a:extLst>
              <a:ext uri="{FF2B5EF4-FFF2-40B4-BE49-F238E27FC236}">
                <a16:creationId xmlns:a16="http://schemas.microsoft.com/office/drawing/2014/main" id="{906B0F44-ED2F-43A8-9F65-86D6C8E758CA}"/>
              </a:ext>
            </a:extLst>
          </p:cNvPr>
          <p:cNvSpPr>
            <a:spLocks noGrp="1"/>
          </p:cNvSpPr>
          <p:nvPr/>
        </p:nvSpPr>
        <p:spPr>
          <a:xfrm>
            <a:off x="4381500" y="2686050"/>
            <a:ext cx="3429000" cy="2857500"/>
          </a:xfrm>
          <a:prstGeom prst="roundRect">
            <a:avLst>
              <a:gd name="adj" fmla="val 6000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ccent-Магазин обезличен">
            <a:extLst>
              <a:ext uri="{FF2B5EF4-FFF2-40B4-BE49-F238E27FC236}">
                <a16:creationId xmlns:a16="http://schemas.microsoft.com/office/drawing/2014/main" id="{0D07DF07-441A-458D-8333-D35326F75FB0}"/>
              </a:ext>
            </a:extLst>
          </p:cNvPr>
          <p:cNvSpPr>
            <a:spLocks noGrp="1"/>
          </p:cNvSpPr>
          <p:nvPr/>
        </p:nvSpPr>
        <p:spPr>
          <a:xfrm>
            <a:off x="4381500" y="2686050"/>
            <a:ext cx="76200" cy="2857500"/>
          </a:xfrm>
          <a:prstGeom prst="rect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7439358-6E0B-49DA-957D-5374AA7F81FD}"/>
              </a:ext>
            </a:extLst>
          </p:cNvPr>
          <p:cNvSpPr>
            <a:spLocks noGrp="1"/>
          </p:cNvSpPr>
          <p:nvPr/>
        </p:nvSpPr>
        <p:spPr>
          <a:xfrm>
            <a:off x="4629150" y="2933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2 · Возврат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341A7D0-FF66-44AE-9154-A4911D4C91E4}"/>
              </a:ext>
            </a:extLst>
          </p:cNvPr>
          <p:cNvSpPr>
            <a:spLocks noGrp="1"/>
          </p:cNvSpPr>
          <p:nvPr/>
        </p:nvSpPr>
        <p:spPr>
          <a:xfrm>
            <a:off x="4629150" y="3429000"/>
            <a:ext cx="2971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24 предмета, 7 рецептов; дубликат можно обменять.</a:t>
            </a:r>
          </a:p>
        </p:txBody>
      </p:sp>
      <p:sp>
        <p:nvSpPr>
          <p:cNvPr id="14" name="card-Сообщество отсутствует">
            <a:extLst>
              <a:ext uri="{FF2B5EF4-FFF2-40B4-BE49-F238E27FC236}">
                <a16:creationId xmlns:a16="http://schemas.microsoft.com/office/drawing/2014/main" id="{74DC1C5B-24DF-4B10-B195-6082788849EA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342900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ccent-Сообщество отсутствует">
            <a:extLst>
              <a:ext uri="{FF2B5EF4-FFF2-40B4-BE49-F238E27FC236}">
                <a16:creationId xmlns:a16="http://schemas.microsoft.com/office/drawing/2014/main" id="{089DCB72-6F24-457A-A13F-AA3AA28BFCA8}"/>
              </a:ext>
            </a:extLst>
          </p:cNvPr>
          <p:cNvSpPr>
            <a:spLocks noGrp="1"/>
          </p:cNvSpPr>
          <p:nvPr/>
        </p:nvSpPr>
        <p:spPr>
          <a:xfrm>
            <a:off x="8229600" y="2686050"/>
            <a:ext cx="76200" cy="28575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C965646-5A35-4ACF-965A-487494C087F2}"/>
              </a:ext>
            </a:extLst>
          </p:cNvPr>
          <p:cNvSpPr>
            <a:spLocks noGrp="1"/>
          </p:cNvSpPr>
          <p:nvPr/>
        </p:nvSpPr>
        <p:spPr>
          <a:xfrm>
            <a:off x="8477250" y="2933700"/>
            <a:ext cx="2971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3 · X5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9537ADF-0ED6-4DCA-95A8-FB06C200936F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2971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Полное обеспечение; 5/5 прогонов в плюсе, +3 845 ₽ на когорту.</a:t>
            </a:r>
          </a:p>
        </p:txBody>
      </p:sp>
    </p:spTree>
    <p:extLst>
      <p:ext uri="{BB962C8B-B14F-4D97-AF65-F5344CB8AC3E}">
        <p14:creationId xmlns:p14="http://schemas.microsoft.com/office/powerpoint/2010/main" val="1686993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C94A2BFE-ED42-46BD-B7EC-6EAD409CDCFF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ПОСТАНОВКА ЗАДАЧИ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548212-AE63-4BDB-B252-5DE12B28E879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71"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Нужен один дополнительный визит — не ещё одна мини-игра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8D0CE189-1CCE-42DB-922D-6D853C64E781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D8B5276C-0C1F-4A04-9E1E-08BAE3EBF8EC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C48823D-CEB3-43A9-81AD-103DDFBFC1D4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Механика должна одновременно дать быструю ценность человеку и положительную экономику X5.</a:t>
            </a: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04D6A1D2-2B57-4625-9896-839FB3CE78BD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609600" cy="6096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68ECD0B-EE2F-4C4E-B32C-812AC71A529F}"/>
              </a:ext>
            </a:extLst>
          </p:cNvPr>
          <p:cNvSpPr>
            <a:spLocks noGrp="1"/>
          </p:cNvSpPr>
          <p:nvPr/>
        </p:nvSpPr>
        <p:spPr>
          <a:xfrm>
            <a:off x="533400" y="35242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979A941-7513-4FAD-8742-02C1D2331D54}"/>
              </a:ext>
            </a:extLst>
          </p:cNvPr>
          <p:cNvSpPr>
            <a:spLocks noGrp="1"/>
          </p:cNvSpPr>
          <p:nvPr/>
        </p:nvSpPr>
        <p:spPr>
          <a:xfrm>
            <a:off x="533400" y="4076700"/>
            <a:ext cx="3238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Видит реальный приз сразу после чека и понимает: остался один шаг.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63617F54-B321-433A-8B4E-F767B4F6D4B6}"/>
              </a:ext>
            </a:extLst>
          </p:cNvPr>
          <p:cNvSpPr>
            <a:spLocks noGrp="1"/>
          </p:cNvSpPr>
          <p:nvPr/>
        </p:nvSpPr>
        <p:spPr>
          <a:xfrm>
            <a:off x="533400" y="5334000"/>
            <a:ext cx="3238500" cy="0"/>
          </a:xfrm>
          <a:prstGeom prst="line">
            <a:avLst/>
          </a:prstGeom>
          <a:noFill/>
          <a:ln w="47625">
            <a:solidFill>
              <a:srgbClr val="E42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1F39A428-231E-42DA-980E-65F2887C2604}"/>
              </a:ext>
            </a:extLst>
          </p:cNvPr>
          <p:cNvSpPr>
            <a:spLocks noGrp="1"/>
          </p:cNvSpPr>
          <p:nvPr/>
        </p:nvSpPr>
        <p:spPr>
          <a:xfrm>
            <a:off x="4381500" y="2667000"/>
            <a:ext cx="609600" cy="6096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D18FA50-CD1E-4151-B4D4-11619AA5678A}"/>
              </a:ext>
            </a:extLst>
          </p:cNvPr>
          <p:cNvSpPr>
            <a:spLocks noGrp="1"/>
          </p:cNvSpPr>
          <p:nvPr/>
        </p:nvSpPr>
        <p:spPr>
          <a:xfrm>
            <a:off x="4381500" y="35242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Игровой слой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6C86F2B-6494-424D-9FEE-E4E26949D41D}"/>
              </a:ext>
            </a:extLst>
          </p:cNvPr>
          <p:cNvSpPr>
            <a:spLocks noGrp="1"/>
          </p:cNvSpPr>
          <p:nvPr/>
        </p:nvSpPr>
        <p:spPr>
          <a:xfrm>
            <a:off x="4381500" y="4076700"/>
            <a:ext cx="3238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Герой растёт вместе со своей Пятёрочкой; ежедневная рутина не нужна.</a:t>
            </a: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131C401F-EB18-46A1-BB5A-7D03D9DA596D}"/>
              </a:ext>
            </a:extLst>
          </p:cNvPr>
          <p:cNvSpPr>
            <a:spLocks noGrp="1"/>
          </p:cNvSpPr>
          <p:nvPr/>
        </p:nvSpPr>
        <p:spPr>
          <a:xfrm>
            <a:off x="4381500" y="5334000"/>
            <a:ext cx="3238500" cy="0"/>
          </a:xfrm>
          <a:prstGeom prst="line">
            <a:avLst/>
          </a:prstGeom>
          <a:noFill/>
          <a:ln w="47625">
            <a:solidFill>
              <a:srgbClr val="4D9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6C0B2F5F-BAED-49D7-93CF-5BC77C77C9A0}"/>
              </a:ext>
            </a:extLst>
          </p:cNvPr>
          <p:cNvSpPr>
            <a:spLocks noGrp="1"/>
          </p:cNvSpPr>
          <p:nvPr/>
        </p:nvSpPr>
        <p:spPr>
          <a:xfrm>
            <a:off x="8229600" y="2667000"/>
            <a:ext cx="609600" cy="609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AD28CEB-F7FA-411C-8AB2-7AF2947EC4A6}"/>
              </a:ext>
            </a:extLst>
          </p:cNvPr>
          <p:cNvSpPr>
            <a:spLocks noGrp="1"/>
          </p:cNvSpPr>
          <p:nvPr/>
        </p:nvSpPr>
        <p:spPr>
          <a:xfrm>
            <a:off x="8229600" y="35242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Бизнес X5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EAF20AA-A8D8-4CA3-B3C1-CB2A68D43EDB}"/>
              </a:ext>
            </a:extLst>
          </p:cNvPr>
          <p:cNvSpPr>
            <a:spLocks noGrp="1"/>
          </p:cNvSpPr>
          <p:nvPr/>
        </p:nvSpPr>
        <p:spPr>
          <a:xfrm>
            <a:off x="8229600" y="4076700"/>
            <a:ext cx="3238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Показывает маршрут там, где вероятна новая покупочная неделя; финансирование приза проверяем с брендом.</a:t>
            </a: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97F4979A-1EB8-47A8-A84A-F3645E406E77}"/>
              </a:ext>
            </a:extLst>
          </p:cNvPr>
          <p:cNvSpPr>
            <a:spLocks noGrp="1"/>
          </p:cNvSpPr>
          <p:nvPr/>
        </p:nvSpPr>
        <p:spPr>
          <a:xfrm>
            <a:off x="8229600" y="5334000"/>
            <a:ext cx="3238500" cy="0"/>
          </a:xfrm>
          <a:prstGeom prst="line">
            <a:avLst/>
          </a:prstGeom>
          <a:noFill/>
          <a:ln w="476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8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">
            <a:extLst>
              <a:ext uri="{FF2B5EF4-FFF2-40B4-BE49-F238E27FC236}">
                <a16:creationId xmlns:a16="http://schemas.microsoft.com/office/drawing/2014/main" id="{9B9E0B94-3096-4506-ADB3-35FAAC6D89E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LIVE-ДЕМО · 1:00–3:10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1285FDD-8DA1-4E36-A7D0-6C0A7F57A006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Один путь связывает покупку, игру и выгоду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73E6F727-0D22-47D1-AF63-AD221F582572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B669A70C-7642-4E95-BD6D-45905E4D8664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42C1D7B-F12A-4AC8-85AC-4070B52CBAEB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16"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Показываем путь без ожидания на двух профилях.</a:t>
            </a:r>
          </a:p>
        </p:txBody>
      </p:sp>
      <p:sp>
        <p:nvSpPr>
          <p:cNvPr id="6" name="connector-0">
            <a:extLst>
              <a:ext uri="{FF2B5EF4-FFF2-40B4-BE49-F238E27FC236}">
                <a16:creationId xmlns:a16="http://schemas.microsoft.com/office/drawing/2014/main" id="{DD3350BC-C095-43C8-92E5-411372410267}"/>
              </a:ext>
            </a:extLst>
          </p:cNvPr>
          <p:cNvSpPr>
            <a:spLocks noGrp="1"/>
          </p:cNvSpPr>
          <p:nvPr/>
        </p:nvSpPr>
        <p:spPr>
          <a:xfrm>
            <a:off x="2095500" y="3619500"/>
            <a:ext cx="666750" cy="0"/>
          </a:xfrm>
          <a:prstGeom prst="line">
            <a:avLst/>
          </a:prstGeom>
          <a:noFill/>
          <a:ln w="2857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rrow-0">
            <a:extLst>
              <a:ext uri="{FF2B5EF4-FFF2-40B4-BE49-F238E27FC236}">
                <a16:creationId xmlns:a16="http://schemas.microsoft.com/office/drawing/2014/main" id="{674FD27F-AB8A-431D-8411-7E9DE21DC2B1}"/>
              </a:ext>
            </a:extLst>
          </p:cNvPr>
          <p:cNvSpPr>
            <a:spLocks noGrp="1"/>
          </p:cNvSpPr>
          <p:nvPr/>
        </p:nvSpPr>
        <p:spPr>
          <a:xfrm>
            <a:off x="2495550" y="34861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>
            <a:normAutofit fontScale="76246" lnSpcReduction="10000"/>
          </a:bodyPr>
          <a:lstStyle/>
          <a:p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connector-1">
            <a:extLst>
              <a:ext uri="{FF2B5EF4-FFF2-40B4-BE49-F238E27FC236}">
                <a16:creationId xmlns:a16="http://schemas.microsoft.com/office/drawing/2014/main" id="{3DAEBC94-7573-4D1E-9302-0EBE1FDBB2F9}"/>
              </a:ext>
            </a:extLst>
          </p:cNvPr>
          <p:cNvSpPr>
            <a:spLocks noGrp="1"/>
          </p:cNvSpPr>
          <p:nvPr/>
        </p:nvSpPr>
        <p:spPr>
          <a:xfrm>
            <a:off x="4438650" y="3619500"/>
            <a:ext cx="666750" cy="0"/>
          </a:xfrm>
          <a:prstGeom prst="line">
            <a:avLst/>
          </a:prstGeom>
          <a:noFill/>
          <a:ln w="2857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rrow-1">
            <a:extLst>
              <a:ext uri="{FF2B5EF4-FFF2-40B4-BE49-F238E27FC236}">
                <a16:creationId xmlns:a16="http://schemas.microsoft.com/office/drawing/2014/main" id="{F7E321EA-009E-40B2-B082-CE5F9F43A711}"/>
              </a:ext>
            </a:extLst>
          </p:cNvPr>
          <p:cNvSpPr>
            <a:spLocks noGrp="1"/>
          </p:cNvSpPr>
          <p:nvPr/>
        </p:nvSpPr>
        <p:spPr>
          <a:xfrm>
            <a:off x="4838700" y="34861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>
            <a:normAutofit fontScale="76246" lnSpcReduction="10000"/>
          </a:bodyPr>
          <a:lstStyle/>
          <a:p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connector-2">
            <a:extLst>
              <a:ext uri="{FF2B5EF4-FFF2-40B4-BE49-F238E27FC236}">
                <a16:creationId xmlns:a16="http://schemas.microsoft.com/office/drawing/2014/main" id="{787F3404-9F6C-4BEC-B91A-2AB777EF0894}"/>
              </a:ext>
            </a:extLst>
          </p:cNvPr>
          <p:cNvSpPr>
            <a:spLocks noGrp="1"/>
          </p:cNvSpPr>
          <p:nvPr/>
        </p:nvSpPr>
        <p:spPr>
          <a:xfrm>
            <a:off x="6781800" y="3619500"/>
            <a:ext cx="666750" cy="0"/>
          </a:xfrm>
          <a:prstGeom prst="line">
            <a:avLst/>
          </a:prstGeom>
          <a:noFill/>
          <a:ln w="2857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-2">
            <a:extLst>
              <a:ext uri="{FF2B5EF4-FFF2-40B4-BE49-F238E27FC236}">
                <a16:creationId xmlns:a16="http://schemas.microsoft.com/office/drawing/2014/main" id="{FEADED1F-E742-416F-811B-2820B26FD66B}"/>
              </a:ext>
            </a:extLst>
          </p:cNvPr>
          <p:cNvSpPr>
            <a:spLocks noGrp="1"/>
          </p:cNvSpPr>
          <p:nvPr/>
        </p:nvSpPr>
        <p:spPr>
          <a:xfrm>
            <a:off x="7181850" y="34861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>
            <a:normAutofit fontScale="76246" lnSpcReduction="10000"/>
          </a:bodyPr>
          <a:lstStyle/>
          <a:p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connector-3">
            <a:extLst>
              <a:ext uri="{FF2B5EF4-FFF2-40B4-BE49-F238E27FC236}">
                <a16:creationId xmlns:a16="http://schemas.microsoft.com/office/drawing/2014/main" id="{7ECDBC81-1AEF-4188-BD27-8C715B149F1C}"/>
              </a:ext>
            </a:extLst>
          </p:cNvPr>
          <p:cNvSpPr>
            <a:spLocks noGrp="1"/>
          </p:cNvSpPr>
          <p:nvPr/>
        </p:nvSpPr>
        <p:spPr>
          <a:xfrm>
            <a:off x="9124950" y="3619500"/>
            <a:ext cx="666750" cy="0"/>
          </a:xfrm>
          <a:prstGeom prst="line">
            <a:avLst/>
          </a:prstGeom>
          <a:noFill/>
          <a:ln w="2857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-3">
            <a:extLst>
              <a:ext uri="{FF2B5EF4-FFF2-40B4-BE49-F238E27FC236}">
                <a16:creationId xmlns:a16="http://schemas.microsoft.com/office/drawing/2014/main" id="{FE49F4C9-09C8-4327-B422-4433A3EB43C4}"/>
              </a:ext>
            </a:extLst>
          </p:cNvPr>
          <p:cNvSpPr>
            <a:spLocks noGrp="1"/>
          </p:cNvSpPr>
          <p:nvPr/>
        </p:nvSpPr>
        <p:spPr>
          <a:xfrm>
            <a:off x="9525000" y="3486150"/>
            <a:ext cx="266700" cy="26670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lIns="0" tIns="0" rIns="0" bIns="0" anchor="ctr">
            <a:normAutofit fontScale="76246" lnSpcReduction="10000"/>
          </a:bodyPr>
          <a:lstStyle/>
          <a:p>
            <a:pPr algn="ctr">
              <a:buNone/>
              <a:defRPr sz="18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D2ABE025-7314-4F4A-B2F1-50D9FD40285F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914400" cy="9144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140115F-7EBA-42B4-80ED-2A04C80B4975}"/>
              </a:ext>
            </a:extLst>
          </p:cNvPr>
          <p:cNvSpPr>
            <a:spLocks noGrp="1"/>
          </p:cNvSpPr>
          <p:nvPr/>
        </p:nvSpPr>
        <p:spPr>
          <a:xfrm>
            <a:off x="24765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3A6DE3F-A7AD-41CE-BB59-F735EE0B2B56}"/>
              </a:ext>
            </a:extLst>
          </p:cNvPr>
          <p:cNvSpPr>
            <a:spLocks noGrp="1"/>
          </p:cNvSpPr>
          <p:nvPr/>
        </p:nvSpPr>
        <p:spPr>
          <a:xfrm>
            <a:off x="247650" y="4900000"/>
            <a:ext cx="171450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+ инвентарь</a:t>
            </a:r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A4C1A6D5-8ABD-4FA5-A1DA-5C079AD41BC5}"/>
              </a:ext>
            </a:extLst>
          </p:cNvPr>
          <p:cNvSpPr>
            <a:spLocks noGrp="1"/>
          </p:cNvSpPr>
          <p:nvPr/>
        </p:nvSpPr>
        <p:spPr>
          <a:xfrm>
            <a:off x="2800350" y="3143250"/>
            <a:ext cx="914400" cy="9144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F3DA5AD-591D-4DAD-8D99-D8C59F24B6BF}"/>
              </a:ext>
            </a:extLst>
          </p:cNvPr>
          <p:cNvSpPr>
            <a:spLocks noGrp="1"/>
          </p:cNvSpPr>
          <p:nvPr/>
        </p:nvSpPr>
        <p:spPr>
          <a:xfrm>
            <a:off x="259080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RecSys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1BA8A99B-6C79-42F9-A097-7057F684E4A6}"/>
              </a:ext>
            </a:extLst>
          </p:cNvPr>
          <p:cNvSpPr>
            <a:spLocks noGrp="1"/>
          </p:cNvSpPr>
          <p:nvPr/>
        </p:nvSpPr>
        <p:spPr>
          <a:xfrm>
            <a:off x="2590800" y="4900000"/>
            <a:ext cx="171450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Ads-победитель</a:t>
            </a:r>
          </a:p>
        </p:txBody>
      </p:sp>
      <p:sp>
        <p:nvSpPr>
          <p:cNvPr id="20" name="circle">
            <a:extLst>
              <a:ext uri="{FF2B5EF4-FFF2-40B4-BE49-F238E27FC236}">
                <a16:creationId xmlns:a16="http://schemas.microsoft.com/office/drawing/2014/main" id="{917397FB-C038-4283-B4EE-2EC1F21C1D03}"/>
              </a:ext>
            </a:extLst>
          </p:cNvPr>
          <p:cNvSpPr>
            <a:spLocks noGrp="1"/>
          </p:cNvSpPr>
          <p:nvPr/>
        </p:nvSpPr>
        <p:spPr>
          <a:xfrm>
            <a:off x="5143500" y="3143250"/>
            <a:ext cx="914400" cy="9144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1BBE8ED5-C817-44F3-B31D-D1068FE458FE}"/>
              </a:ext>
            </a:extLst>
          </p:cNvPr>
          <p:cNvSpPr>
            <a:spLocks noGrp="1"/>
          </p:cNvSpPr>
          <p:nvPr/>
        </p:nvSpPr>
        <p:spPr>
          <a:xfrm>
            <a:off x="493395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Чек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EDD389D9-C898-4732-B544-A948DCA5DDA1}"/>
              </a:ext>
            </a:extLst>
          </p:cNvPr>
          <p:cNvSpPr>
            <a:spLocks noGrp="1"/>
          </p:cNvSpPr>
          <p:nvPr/>
        </p:nvSpPr>
        <p:spPr>
          <a:xfrm>
            <a:off x="4933950" y="4900000"/>
            <a:ext cx="171450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 награды</a:t>
            </a:r>
          </a:p>
        </p:txBody>
      </p:sp>
      <p:sp>
        <p:nvSpPr>
          <p:cNvPr id="23" name="circle">
            <a:extLst>
              <a:ext uri="{FF2B5EF4-FFF2-40B4-BE49-F238E27FC236}">
                <a16:creationId xmlns:a16="http://schemas.microsoft.com/office/drawing/2014/main" id="{88492812-4210-4B7D-9EE6-7E8651E5460A}"/>
              </a:ext>
            </a:extLst>
          </p:cNvPr>
          <p:cNvSpPr>
            <a:spLocks noGrp="1"/>
          </p:cNvSpPr>
          <p:nvPr/>
        </p:nvSpPr>
        <p:spPr>
          <a:xfrm>
            <a:off x="7486650" y="3143250"/>
            <a:ext cx="914400" cy="9144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657BFF53-3CE0-4905-BCC9-04D4A613F566}"/>
              </a:ext>
            </a:extLst>
          </p:cNvPr>
          <p:cNvSpPr>
            <a:spLocks noGrp="1"/>
          </p:cNvSpPr>
          <p:nvPr/>
        </p:nvSpPr>
        <p:spPr>
          <a:xfrm>
            <a:off x="727710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Обмен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033D5A71-FFC0-43E3-AA80-CA166261981D}"/>
              </a:ext>
            </a:extLst>
          </p:cNvPr>
          <p:cNvSpPr>
            <a:spLocks noGrp="1"/>
          </p:cNvSpPr>
          <p:nvPr/>
        </p:nvSpPr>
        <p:spPr>
          <a:xfrm>
            <a:off x="7277100" y="4900000"/>
            <a:ext cx="171450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или задание</a:t>
            </a:r>
          </a:p>
        </p:txBody>
      </p:sp>
      <p:sp>
        <p:nvSpPr>
          <p:cNvPr id="26" name="circle">
            <a:extLst>
              <a:ext uri="{FF2B5EF4-FFF2-40B4-BE49-F238E27FC236}">
                <a16:creationId xmlns:a16="http://schemas.microsoft.com/office/drawing/2014/main" id="{B3BA54D2-9B60-46E2-A745-FB5BAF591EE4}"/>
              </a:ext>
            </a:extLst>
          </p:cNvPr>
          <p:cNvSpPr>
            <a:spLocks noGrp="1"/>
          </p:cNvSpPr>
          <p:nvPr/>
        </p:nvSpPr>
        <p:spPr>
          <a:xfrm>
            <a:off x="9829800" y="3143250"/>
            <a:ext cx="914400" cy="9144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51922099-09F8-4423-B4C2-6902EFA748A6}"/>
              </a:ext>
            </a:extLst>
          </p:cNvPr>
          <p:cNvSpPr>
            <a:spLocks noGrp="1"/>
          </p:cNvSpPr>
          <p:nvPr/>
        </p:nvSpPr>
        <p:spPr>
          <a:xfrm>
            <a:off x="9620250" y="43053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Крафт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C309B2A1-E987-4032-BF89-73C4B07B251B}"/>
              </a:ext>
            </a:extLst>
          </p:cNvPr>
          <p:cNvSpPr>
            <a:spLocks noGrp="1"/>
          </p:cNvSpPr>
          <p:nvPr/>
        </p:nvSpPr>
        <p:spPr>
          <a:xfrm>
            <a:off x="9620250" y="4900000"/>
            <a:ext cx="171450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скидка 8%</a:t>
            </a:r>
          </a:p>
        </p:txBody>
      </p:sp>
    </p:spTree>
    <p:extLst>
      <p:ext uri="{BB962C8B-B14F-4D97-AF65-F5344CB8AC3E}">
        <p14:creationId xmlns:p14="http://schemas.microsoft.com/office/powerpoint/2010/main" val="60683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>
            <a:extLst>
              <a:ext uri="{FF2B5EF4-FFF2-40B4-BE49-F238E27FC236}">
                <a16:creationId xmlns:a16="http://schemas.microsoft.com/office/drawing/2014/main" id="{351A0D77-DEDA-45D4-8D93-9A0F4695756C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МЕХАНИКА ПЕРСОНАЖА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77DDFEA-D64D-4DD1-A232-8C0340292F8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Герой растёт вместе со своей Пятёрочкой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DED8F581-B204-41A0-B65D-7343D0F0B5B0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2ADBCEB-2B51-4664-9506-937ACEE59FA9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B8BD3EF-2761-492D-A9F0-50616DBDC9B8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Маршруты дают личный XP и вклад магазину; траты не покупают статус.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9CC76EA3-B784-4543-BBF7-39BC6B5CBC24}"/>
              </a:ext>
            </a:extLst>
          </p:cNvPr>
          <p:cNvSpPr>
            <a:spLocks noGrp="1"/>
          </p:cNvSpPr>
          <p:nvPr/>
        </p:nvSpPr>
        <p:spPr>
          <a:xfrm>
            <a:off x="1257300" y="3390900"/>
            <a:ext cx="8858250" cy="0"/>
          </a:xfrm>
          <a:prstGeom prst="line">
            <a:avLst/>
          </a:prstGeom>
          <a:noFill/>
          <a:ln w="476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9B7FBDC3-20AD-48AA-8ABD-2AA60C4CA996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990600" cy="9906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EF8AA8B-325D-44FC-877E-88FF7BD54C93}"/>
              </a:ext>
            </a:extLst>
          </p:cNvPr>
          <p:cNvSpPr>
            <a:spLocks noGrp="1"/>
          </p:cNvSpPr>
          <p:nvPr/>
        </p:nvSpPr>
        <p:spPr>
          <a:xfrm>
            <a:off x="581025" y="41719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346" lnSpcReduction="10000"/>
          </a:bodyPr>
          <a:lstStyle/>
          <a:p>
            <a:pPr algn="ctr">
              <a:buNone/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Стартовый дроп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428F3FB1-A8C5-42C9-B358-076831F8663C}"/>
              </a:ext>
            </a:extLst>
          </p:cNvPr>
          <p:cNvSpPr>
            <a:spLocks noGrp="1"/>
          </p:cNvSpPr>
          <p:nvPr/>
        </p:nvSpPr>
        <p:spPr>
          <a:xfrm>
            <a:off x="390525" y="46101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Косметика сразу</a:t>
            </a:r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A60306E3-7DE7-44E7-8161-DF598E30953D}"/>
              </a:ext>
            </a:extLst>
          </p:cNvPr>
          <p:cNvSpPr>
            <a:spLocks noGrp="1"/>
          </p:cNvSpPr>
          <p:nvPr/>
        </p:nvSpPr>
        <p:spPr>
          <a:xfrm>
            <a:off x="3771900" y="2914650"/>
            <a:ext cx="990600" cy="9906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1D5A493-43C5-461D-843D-8605009F92F0}"/>
              </a:ext>
            </a:extLst>
          </p:cNvPr>
          <p:cNvSpPr>
            <a:spLocks noGrp="1"/>
          </p:cNvSpPr>
          <p:nvPr/>
        </p:nvSpPr>
        <p:spPr>
          <a:xfrm>
            <a:off x="3438525" y="41719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06"/>
          </a:bodyPr>
          <a:lstStyle/>
          <a:p>
            <a:pPr algn="ctr">
              <a:buNone/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Первый маршрут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510FC8E-D152-465A-81D6-C996F5E09D01}"/>
              </a:ext>
            </a:extLst>
          </p:cNvPr>
          <p:cNvSpPr>
            <a:spLocks noGrp="1"/>
          </p:cNvSpPr>
          <p:nvPr/>
        </p:nvSpPr>
        <p:spPr>
          <a:xfrm>
            <a:off x="3248025" y="46101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Предмет + вклад магазину</a:t>
            </a:r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05453A2B-3075-47E9-A2CD-9F92AB7BEF63}"/>
              </a:ext>
            </a:extLst>
          </p:cNvPr>
          <p:cNvSpPr>
            <a:spLocks noGrp="1"/>
          </p:cNvSpPr>
          <p:nvPr/>
        </p:nvSpPr>
        <p:spPr>
          <a:xfrm>
            <a:off x="6629400" y="2914650"/>
            <a:ext cx="990600" cy="990600"/>
          </a:xfrm>
          <a:prstGeom prst="ellipse">
            <a:avLst/>
          </a:prstGeom>
          <a:solidFill>
            <a:srgbClr val="F2A93B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87B5BC3-E0F6-46C7-8C65-1ECFEBFBDAD7}"/>
              </a:ext>
            </a:extLst>
          </p:cNvPr>
          <p:cNvSpPr>
            <a:spLocks noGrp="1"/>
          </p:cNvSpPr>
          <p:nvPr/>
        </p:nvSpPr>
        <p:spPr>
          <a:xfrm>
            <a:off x="6296025" y="41719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37"/>
          </a:bodyPr>
          <a:lstStyle/>
          <a:p>
            <a:pPr algn="ctr">
              <a:buNone/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Уровень «Свой»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077F0FD-A183-4BEB-BAC1-D41F27E011E4}"/>
              </a:ext>
            </a:extLst>
          </p:cNvPr>
          <p:cNvSpPr>
            <a:spLocks noGrp="1"/>
          </p:cNvSpPr>
          <p:nvPr/>
        </p:nvSpPr>
        <p:spPr>
          <a:xfrm>
            <a:off x="6105525" y="46101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 голос в месяц</a:t>
            </a:r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37770D58-4FE2-4B07-8A61-672181FD7120}"/>
              </a:ext>
            </a:extLst>
          </p:cNvPr>
          <p:cNvSpPr>
            <a:spLocks noGrp="1"/>
          </p:cNvSpPr>
          <p:nvPr/>
        </p:nvSpPr>
        <p:spPr>
          <a:xfrm>
            <a:off x="9486900" y="2914650"/>
            <a:ext cx="990600" cy="9906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1762729-DA26-4D47-82DB-0BDF3402740F}"/>
              </a:ext>
            </a:extLst>
          </p:cNvPr>
          <p:cNvSpPr>
            <a:spLocks noGrp="1"/>
          </p:cNvSpPr>
          <p:nvPr/>
        </p:nvSpPr>
        <p:spPr>
          <a:xfrm>
            <a:off x="9153525" y="41719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606" lnSpcReduction="20000"/>
          </a:bodyPr>
          <a:lstStyle/>
          <a:p>
            <a:pPr algn="ctr">
              <a:buNone/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Уровень «Профи»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CDF345F3-D835-48FE-8A75-45E9F6386C30}"/>
              </a:ext>
            </a:extLst>
          </p:cNvPr>
          <p:cNvSpPr>
            <a:spLocks noGrp="1"/>
          </p:cNvSpPr>
          <p:nvPr/>
        </p:nvSpPr>
        <p:spPr>
          <a:xfrm>
            <a:off x="8963025" y="4610100"/>
            <a:ext cx="2047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 FastPass в месяц</a:t>
            </a:r>
          </a:p>
        </p:txBody>
      </p:sp>
      <p:sp>
        <p:nvSpPr>
          <p:cNvPr id="19" name="rect">
            <a:extLst>
              <a:ext uri="{FF2B5EF4-FFF2-40B4-BE49-F238E27FC236}">
                <a16:creationId xmlns:a16="http://schemas.microsoft.com/office/drawing/2014/main" id="{D8E93311-0397-4488-B54F-D246FF43DA65}"/>
              </a:ext>
            </a:extLst>
          </p:cNvPr>
          <p:cNvSpPr>
            <a:spLocks noGrp="1"/>
          </p:cNvSpPr>
          <p:nvPr/>
        </p:nvSpPr>
        <p:spPr>
          <a:xfrm>
            <a:off x="533400" y="5486400"/>
            <a:ext cx="11125200" cy="590550"/>
          </a:xfrm>
          <a:prstGeom prst="roundRect">
            <a:avLst>
              <a:gd name="adj" fmla="val 22581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E8B84F3-497B-419B-BF2E-A2489993BD6D}"/>
              </a:ext>
            </a:extLst>
          </p:cNvPr>
          <p:cNvSpPr>
            <a:spLocks noGrp="1"/>
          </p:cNvSpPr>
          <p:nvPr/>
        </p:nvSpPr>
        <p:spPr>
          <a:xfrm>
            <a:off x="742950" y="5638800"/>
            <a:ext cx="10706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XP дают маршруты, а не сумма чека. Голоса и FastPass ограничены и не меняют ценность личного приза.</a:t>
            </a:r>
          </a:p>
        </p:txBody>
      </p:sp>
    </p:spTree>
    <p:extLst>
      <p:ext uri="{BB962C8B-B14F-4D97-AF65-F5344CB8AC3E}">
        <p14:creationId xmlns:p14="http://schemas.microsoft.com/office/powerpoint/2010/main" val="98984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">
            <a:extLst>
              <a:ext uri="{FF2B5EF4-FFF2-40B4-BE49-F238E27FC236}">
                <a16:creationId xmlns:a16="http://schemas.microsoft.com/office/drawing/2014/main" id="{00606D51-96F8-4540-916B-68675A5D87D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НАГРАДА И ЭКОНОМИКА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83B6C8A-00E9-4E88-A734-C2B3C39CDF52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Бесплатный товар — гарантированная награда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122933A7-1055-47A9-9CCE-BA4980143B14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E454EFD0-C17F-4944-92D1-002AF6E5227D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2F3FEFA-3348-4AAC-A7A1-A31C496A12AE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580" lnSpcReduction="10000"/>
          </a:bodyPr>
          <a:lstStyle/>
          <a:p>
            <a:pPr algn="l">
              <a:buNone/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Reveal не содержит проигрышных секторов: награда гарантирована. Юридический режим и правила выдачи требуют проверки.</a:t>
            </a: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E4E5AFAD-C736-4CC3-BF09-B43F8AFF4C0B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514350" cy="51435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97B7A3B-30CD-46ED-A9B3-4A8F0622DB5C}"/>
              </a:ext>
            </a:extLst>
          </p:cNvPr>
          <p:cNvSpPr>
            <a:spLocks noGrp="1"/>
          </p:cNvSpPr>
          <p:nvPr/>
        </p:nvSpPr>
        <p:spPr>
          <a:xfrm>
            <a:off x="1257300" y="25717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Три призовых пути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CBB08DF4-A146-48CA-B05B-862D045E3F7B}"/>
              </a:ext>
            </a:extLst>
          </p:cNvPr>
          <p:cNvSpPr>
            <a:spLocks noGrp="1"/>
          </p:cNvSpPr>
          <p:nvPr/>
        </p:nvSpPr>
        <p:spPr>
          <a:xfrm>
            <a:off x="1257300" y="3028950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Recsys выбирает понятные варианты из повторяемых категорий пользователя.</a:t>
            </a: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CB7A8C23-753A-4D40-8C9C-30B6EAA9CCC9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514350" cy="51435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◔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30CF4A7-8DAA-45F3-94CE-3E703C93C2A4}"/>
              </a:ext>
            </a:extLst>
          </p:cNvPr>
          <p:cNvSpPr>
            <a:spLocks noGrp="1"/>
          </p:cNvSpPr>
          <p:nvPr/>
        </p:nvSpPr>
        <p:spPr>
          <a:xfrm>
            <a:off x="6915150" y="25717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Приз в рюкзаке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F1ACCC8-98B2-475B-B6A2-A284C6B0239E}"/>
              </a:ext>
            </a:extLst>
          </p:cNvPr>
          <p:cNvSpPr>
            <a:spLocks noGrp="1"/>
          </p:cNvSpPr>
          <p:nvPr/>
        </p:nvSpPr>
        <p:spPr>
          <a:xfrm>
            <a:off x="6915150" y="3028950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Виден сразу; после визита — 100% скидка на SKU. Если товара нет, система предлагает равноценную замену или продлевает срок.</a:t>
            </a: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7FE31471-18F4-4EA8-8248-F009C953584A}"/>
              </a:ext>
            </a:extLst>
          </p:cNvPr>
          <p:cNvSpPr>
            <a:spLocks noGrp="1"/>
          </p:cNvSpPr>
          <p:nvPr/>
        </p:nvSpPr>
        <p:spPr>
          <a:xfrm>
            <a:off x="533400" y="4333875"/>
            <a:ext cx="514350" cy="51435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B2381C21-CBAF-493F-A799-3387B0CDE109}"/>
              </a:ext>
            </a:extLst>
          </p:cNvPr>
          <p:cNvSpPr>
            <a:spLocks noGrp="1"/>
          </p:cNvSpPr>
          <p:nvPr/>
        </p:nvSpPr>
        <p:spPr>
          <a:xfrm>
            <a:off x="1257300" y="4333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Рабочая модель — бренд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4CE9FF8-C7C5-4805-8F62-2EF4C37FE9E0}"/>
              </a:ext>
            </a:extLst>
          </p:cNvPr>
          <p:cNvSpPr>
            <a:spLocks noGrp="1"/>
          </p:cNvSpPr>
          <p:nvPr/>
        </p:nvSpPr>
        <p:spPr>
          <a:xfrm>
            <a:off x="1257300" y="4791075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Supplier-funded trial — гипотеза пилота. Стоимость для X5 и коммерческие условия требуют подтверждения.</a:t>
            </a:r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6A04A3EE-2D61-410E-B3BA-B9B66F1B6F4D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514350" cy="51435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★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6F5D850-4903-4349-B521-9466913BB0AA}"/>
              </a:ext>
            </a:extLst>
          </p:cNvPr>
          <p:cNvSpPr>
            <a:spLocks noGrp="1"/>
          </p:cNvSpPr>
          <p:nvPr/>
        </p:nvSpPr>
        <p:spPr>
          <a:xfrm>
            <a:off x="6915150" y="4333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No action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6142D27-74DF-4DB8-A64C-2BB74C3F9536}"/>
              </a:ext>
            </a:extLst>
          </p:cNvPr>
          <p:cNvSpPr>
            <a:spLocks noGrp="1"/>
          </p:cNvSpPr>
          <p:nvPr/>
        </p:nvSpPr>
        <p:spPr>
          <a:xfrm>
            <a:off x="6915150" y="4791075"/>
            <a:ext cx="4572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Если ожидаемый эффект ниже стоимости приза, остаётся только бесплатный цифровой дроп.</a:t>
            </a:r>
          </a:p>
        </p:txBody>
      </p:sp>
    </p:spTree>
    <p:extLst>
      <p:ext uri="{BB962C8B-B14F-4D97-AF65-F5344CB8AC3E}">
        <p14:creationId xmlns:p14="http://schemas.microsoft.com/office/powerpoint/2010/main" val="367661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kicker">
            <a:extLst>
              <a:ext uri="{FF2B5EF4-FFF2-40B4-BE49-F238E27FC236}">
                <a16:creationId xmlns:a16="http://schemas.microsoft.com/office/drawing/2014/main" id="{9711C1B0-C40B-4EB9-8171-9F171F3E6B9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СОЦИАЛЬНЫЙ СЛОЙ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BCCC918-E8A8-42F2-A502-1EB252CE7C9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Герой, семья и своя Пятёрочка растут вместе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E96A7C3D-7BC1-4BC0-B7D2-9C4E30B2C0E0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B293ED99-2B53-4E77-A840-8278B556A3DE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">
            <a:extLst>
              <a:ext uri="{FF2B5EF4-FFF2-40B4-BE49-F238E27FC236}">
                <a16:creationId xmlns:a16="http://schemas.microsoft.com/office/drawing/2014/main" id="{85FD9A64-666D-4FBB-877B-00CA0120D704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5143500" cy="4095750"/>
          </a:xfrm>
          <a:prstGeom prst="roundRect">
            <a:avLst>
              <a:gd name="adj" fmla="val 4651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6CBB720-3D2F-4E43-BD2B-E2D9ADDFECD2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Семья вместо спам-реферала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6346394-5A10-4C48-9DEB-28606A9EF6F9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4191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подарить заработанный приз</a:t>
            </a:r>
          </a:p>
          <a:p>
            <a:pPr algn="l">
              <a:buNone/>
              <a:defRPr sz="16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общий необязательный маршрут</a:t>
            </a:r>
          </a:p>
          <a:p>
            <a:pPr algn="l">
              <a:buNone/>
              <a:defRPr sz="16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бонус — после первого валидного чека</a:t>
            </a:r>
          </a:p>
          <a:p>
            <a:pPr algn="l">
              <a:buNone/>
              <a:defRPr sz="16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подозрительная связь → delayed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4F99573-85C2-40E6-9B06-17F9A9DFF1CC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4191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Сначала польза, затем приглашение: не нужно рекламировать X5 друзьям.</a:t>
            </a:r>
          </a:p>
        </p:txBody>
      </p:sp>
      <p:sp>
        <p:nvSpPr>
          <p:cNvPr id="9" name="rect">
            <a:extLst>
              <a:ext uri="{FF2B5EF4-FFF2-40B4-BE49-F238E27FC236}">
                <a16:creationId xmlns:a16="http://schemas.microsoft.com/office/drawing/2014/main" id="{71E2D920-A905-4B4F-980E-0D193B2D7016}"/>
              </a:ext>
            </a:extLst>
          </p:cNvPr>
          <p:cNvSpPr>
            <a:spLocks noGrp="1"/>
          </p:cNvSpPr>
          <p:nvPr/>
        </p:nvSpPr>
        <p:spPr>
          <a:xfrm>
            <a:off x="5981700" y="1714500"/>
            <a:ext cx="5676900" cy="4095750"/>
          </a:xfrm>
          <a:prstGeom prst="roundRect">
            <a:avLst>
              <a:gd name="adj" fmla="val 4651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F18B807-9DDF-4AAB-8DEC-3E7B9D39DA54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895" lnSpcReduction="10000"/>
          </a:bodyPr>
          <a:lstStyle/>
          <a:p>
            <a:pPr algn="l">
              <a:buNone/>
              <a:defRPr sz="21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Своя Пятёрочка растёт вместе с героем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4693776-BD49-42CF-BE68-DE8E1089D575}"/>
              </a:ext>
            </a:extLst>
          </p:cNvPr>
          <p:cNvSpPr>
            <a:spLocks noGrp="1"/>
          </p:cNvSpPr>
          <p:nvPr/>
        </p:nvSpPr>
        <p:spPr>
          <a:xfrm>
            <a:off x="6286500" y="280035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маршрут заполняет сезонную шкалу</a:t>
            </a:r>
          </a:p>
          <a:p>
            <a:r>
              <a:t>• уровень «Свой» → 1 голос в месяц</a:t>
            </a:r>
          </a:p>
          <a:p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уровень «Профи» → 1 FastPass в месяц</a:t>
            </a:r>
          </a:p>
          <a:p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рейтинг — анонимный percentile</a:t>
            </a:r>
          </a:p>
          <a:p>
            <a:pPr algn="l">
              <a:buNone/>
              <a:defRPr sz="157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в зачёт — 1 маршрут в неделю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AEED7B6-32FC-4098-A7C3-B41395B02D74}"/>
              </a:ext>
            </a:extLst>
          </p:cNvPr>
          <p:cNvSpPr>
            <a:spLocks noGrp="1"/>
          </p:cNvSpPr>
          <p:nvPr/>
        </p:nvSpPr>
        <p:spPr>
          <a:xfrm>
            <a:off x="6286500" y="516255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Голосование — из утверждённого каталога; FastPass — только в магазинах пилота.</a:t>
            </a:r>
          </a:p>
        </p:txBody>
      </p:sp>
    </p:spTree>
    <p:extLst>
      <p:ext uri="{BB962C8B-B14F-4D97-AF65-F5344CB8AC3E}">
        <p14:creationId xmlns:p14="http://schemas.microsoft.com/office/powerpoint/2010/main" val="27666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>
            <a:extLst>
              <a:ext uri="{FF2B5EF4-FFF2-40B4-BE49-F238E27FC236}">
                <a16:creationId xmlns:a16="http://schemas.microsoft.com/office/drawing/2014/main" id="{74F42730-14B7-4E55-BD8F-D0F515A075F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9AB7537-DEFE-4946-9736-460E43550DCE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Маша получает приз и прокачивает свою Пятёрочку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580EB82-57D8-48B5-A798-FFC398C30D4A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FB730846-A793-409E-8305-876347A7C936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BDDF6424-A6F9-4136-92CC-A60F0F9D13D5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0"/>
          </a:xfrm>
          <a:prstGeom prst="line">
            <a:avLst/>
          </a:prstGeom>
          <a:noFill/>
          <a:ln w="9525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">
            <a:extLst>
              <a:ext uri="{FF2B5EF4-FFF2-40B4-BE49-F238E27FC236}">
                <a16:creationId xmlns:a16="http://schemas.microsoft.com/office/drawing/2014/main" id="{ABC0BC22-7BFC-4B0A-AE01-7E19C716654F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B1BC505-1DBD-437B-8EF5-99F326EC454E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289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1. Чек запускает забег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344C491-E232-4A8B-9991-5A2B1EC1D8E9}"/>
              </a:ext>
            </a:extLst>
          </p:cNvPr>
          <p:cNvSpPr>
            <a:spLocks noGrp="1"/>
          </p:cNvSpPr>
          <p:nvPr/>
        </p:nvSpPr>
        <p:spPr>
          <a:xfrm>
            <a:off x="800100" y="2933700"/>
            <a:ext cx="28956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После обычной покупки AI показывает кофе, корм и йогурт: все варианты знакомы Маше и проходят бюджет.</a:t>
            </a: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FE0C92F3-9ABA-4DF2-A5D1-419CC9A1DD0E}"/>
              </a:ext>
            </a:extLst>
          </p:cNvPr>
          <p:cNvSpPr>
            <a:spLocks noGrp="1"/>
          </p:cNvSpPr>
          <p:nvPr/>
        </p:nvSpPr>
        <p:spPr>
          <a:xfrm>
            <a:off x="533400" y="5295900"/>
            <a:ext cx="190500" cy="1905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17B5B3A-753B-4883-AF8E-C0CCCEFB7419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Сразу после чека</a:t>
            </a:r>
          </a:p>
        </p:txBody>
      </p:sp>
      <p:sp>
        <p:nvSpPr>
          <p:cNvPr id="11" name="rect">
            <a:extLst>
              <a:ext uri="{FF2B5EF4-FFF2-40B4-BE49-F238E27FC236}">
                <a16:creationId xmlns:a16="http://schemas.microsoft.com/office/drawing/2014/main" id="{054910A0-FF6A-4F18-AFDB-1A590AC6E3EA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643FCEA-CD9F-44EC-B5F9-346D59737B87}"/>
              </a:ext>
            </a:extLst>
          </p:cNvPr>
          <p:cNvSpPr>
            <a:spLocks noGrp="1"/>
          </p:cNvSpPr>
          <p:nvPr/>
        </p:nvSpPr>
        <p:spPr>
          <a:xfrm>
            <a:off x="4648200" y="2095500"/>
            <a:ext cx="289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2. Маша выбирает приз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D8A38EE-741B-4A1D-A0DE-2E787D12FC04}"/>
              </a:ext>
            </a:extLst>
          </p:cNvPr>
          <p:cNvSpPr>
            <a:spLocks noGrp="1"/>
          </p:cNvSpPr>
          <p:nvPr/>
        </p:nvSpPr>
        <p:spPr>
          <a:xfrm>
            <a:off x="4648200" y="2933700"/>
            <a:ext cx="28956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Кофе появляется в рюкзаке, герой получает куртку. Остался один визит в 3–7 дней.</a:t>
            </a: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63376487-9C3F-469E-B3C6-EEC546567186}"/>
              </a:ext>
            </a:extLst>
          </p:cNvPr>
          <p:cNvSpPr>
            <a:spLocks noGrp="1"/>
          </p:cNvSpPr>
          <p:nvPr/>
        </p:nvSpPr>
        <p:spPr>
          <a:xfrm>
            <a:off x="4381500" y="5295900"/>
            <a:ext cx="190500" cy="1905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1FBA45B3-66D8-41F3-AB40-F5C677AC5305}"/>
              </a:ext>
            </a:extLst>
          </p:cNvPr>
          <p:cNvSpPr>
            <a:spLocks noGrp="1"/>
          </p:cNvSpPr>
          <p:nvPr/>
        </p:nvSpPr>
        <p:spPr>
          <a:xfrm>
            <a:off x="4381500" y="5676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Одно решение</a:t>
            </a:r>
          </a:p>
        </p:txBody>
      </p:sp>
      <p:sp>
        <p:nvSpPr>
          <p:cNvPr id="16" name="rect">
            <a:extLst>
              <a:ext uri="{FF2B5EF4-FFF2-40B4-BE49-F238E27FC236}">
                <a16:creationId xmlns:a16="http://schemas.microsoft.com/office/drawing/2014/main" id="{3C9732CD-07EE-40DB-A025-4095B031288D}"/>
              </a:ext>
            </a:extLst>
          </p:cNvPr>
          <p:cNvSpPr>
            <a:spLocks noGrp="1"/>
          </p:cNvSpPr>
          <p:nvPr/>
        </p:nvSpPr>
        <p:spPr>
          <a:xfrm>
            <a:off x="82296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6593ACB-0A9D-47C6-B904-451345A3B44F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89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3. Визит завершает маршрут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4A9A71B-5544-438C-8785-7707D4913747}"/>
              </a:ext>
            </a:extLst>
          </p:cNvPr>
          <p:cNvSpPr>
            <a:spLocks noGrp="1"/>
          </p:cNvSpPr>
          <p:nvPr/>
        </p:nvSpPr>
        <p:spPr>
          <a:xfrm>
            <a:off x="8496300" y="2933700"/>
            <a:ext cx="28956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Чек в другой день открывает кофе и даёт XP герою и магазину. Уровень «Свой» открывает 1 голос в месяц.</a:t>
            </a:r>
          </a:p>
        </p:txBody>
      </p:sp>
      <p:sp>
        <p:nvSpPr>
          <p:cNvPr id="19" name="circle">
            <a:extLst>
              <a:ext uri="{FF2B5EF4-FFF2-40B4-BE49-F238E27FC236}">
                <a16:creationId xmlns:a16="http://schemas.microsoft.com/office/drawing/2014/main" id="{24914AC2-9DF9-49AE-9EE3-0600AC1DD640}"/>
              </a:ext>
            </a:extLst>
          </p:cNvPr>
          <p:cNvSpPr>
            <a:spLocks noGrp="1"/>
          </p:cNvSpPr>
          <p:nvPr/>
        </p:nvSpPr>
        <p:spPr>
          <a:xfrm>
            <a:off x="8229600" y="5295900"/>
            <a:ext cx="190500" cy="1905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AB52EE1E-003A-4F60-8E4B-A5819C104F26}"/>
              </a:ext>
            </a:extLst>
          </p:cNvPr>
          <p:cNvSpPr>
            <a:spLocks noGrp="1"/>
          </p:cNvSpPr>
          <p:nvPr/>
        </p:nvSpPr>
        <p:spPr>
          <a:xfrm>
            <a:off x="8229600" y="5676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Приз + общий прогресс</a:t>
            </a:r>
          </a:p>
        </p:txBody>
      </p:sp>
    </p:spTree>
    <p:extLst>
      <p:ext uri="{BB962C8B-B14F-4D97-AF65-F5344CB8AC3E}">
        <p14:creationId xmlns:p14="http://schemas.microsoft.com/office/powerpoint/2010/main" val="43424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">
            <a:extLst>
              <a:ext uri="{FF2B5EF4-FFF2-40B4-BE49-F238E27FC236}">
                <a16:creationId xmlns:a16="http://schemas.microsoft.com/office/drawing/2014/main" id="{82BD572C-687F-4545-83CF-5EBA5C6F06B1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ТЕХНИКА · 3:10–4:10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F354DE3-E729-47E5-97EF-B31747A40705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Выбор, финансирование и текст разделены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B28DBF55-05CF-4D69-916D-8F12F646FC2A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91C83278-432F-45AC-BFE3-FF8BE258A396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F020784-FC3F-44E9-A82C-1CAD7351EC04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React/Vite → Zod/JSON → Python: RecSys → Ads → Qwen</a:t>
            </a:r>
          </a:p>
        </p:txBody>
      </p:sp>
      <p:sp>
        <p:nvSpPr>
          <p:cNvPr id="6" name="rect">
            <a:extLst>
              <a:ext uri="{FF2B5EF4-FFF2-40B4-BE49-F238E27FC236}">
                <a16:creationId xmlns:a16="http://schemas.microsoft.com/office/drawing/2014/main" id="{F42E12DE-8865-4B68-9DF8-F54890AF712A}"/>
              </a:ext>
            </a:extLst>
          </p:cNvPr>
          <p:cNvSpPr>
            <a:spLocks noGrp="1"/>
          </p:cNvSpPr>
          <p:nvPr/>
        </p:nvSpPr>
        <p:spPr>
          <a:xfrm>
            <a:off x="533400" y="2857500"/>
            <a:ext cx="3429000" cy="2667000"/>
          </a:xfrm>
          <a:prstGeom prst="roundRect">
            <a:avLst>
              <a:gd name="adj" fmla="val 6429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6B3938F-EA4C-4E55-BDC1-7F8107187779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RecSys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767C7B0-C3E0-4A57-9584-AF302A13A0F8}"/>
              </a:ext>
            </a:extLst>
          </p:cNvPr>
          <p:cNvSpPr>
            <a:spLocks noGrp="1"/>
          </p:cNvSpPr>
          <p:nvPr/>
        </p:nvSpPr>
        <p:spPr>
          <a:xfrm>
            <a:off x="800100" y="4200000"/>
            <a:ext cx="2895600" cy="1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 lnSpcReduction="10000"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Rules live → offer / no_action. Uplift — offline.</a:t>
            </a:r>
          </a:p>
        </p:txBody>
      </p:sp>
      <p:sp>
        <p:nvSpPr>
          <p:cNvPr id="9" name="rect">
            <a:extLst>
              <a:ext uri="{FF2B5EF4-FFF2-40B4-BE49-F238E27FC236}">
                <a16:creationId xmlns:a16="http://schemas.microsoft.com/office/drawing/2014/main" id="{7E6BEDFD-2A14-495D-8B28-DC8BCD6B0559}"/>
              </a:ext>
            </a:extLst>
          </p:cNvPr>
          <p:cNvSpPr>
            <a:spLocks noGrp="1"/>
          </p:cNvSpPr>
          <p:nvPr/>
        </p:nvSpPr>
        <p:spPr>
          <a:xfrm>
            <a:off x="4381500" y="2857500"/>
            <a:ext cx="3429000" cy="2667000"/>
          </a:xfrm>
          <a:prstGeom prst="roundRect">
            <a:avLst>
              <a:gd name="adj" fmla="val 6429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F781BD7-ED97-4955-AA98-C2B059E9CB57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Ads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0764DA3-3E3B-4ED6-9DB9-8CFEB7856057}"/>
              </a:ext>
            </a:extLst>
          </p:cNvPr>
          <p:cNvSpPr>
            <a:spLocks noGrp="1"/>
          </p:cNvSpPr>
          <p:nvPr/>
        </p:nvSpPr>
        <p:spPr>
          <a:xfrm>
            <a:off x="4648200" y="4200000"/>
            <a:ext cx="2895600" cy="1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 lnSpcReduction="10000"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Фильтры → победитель → резерв → один CPA.</a:t>
            </a:r>
          </a:p>
        </p:txBody>
      </p:sp>
      <p:sp>
        <p:nvSpPr>
          <p:cNvPr id="12" name="rect">
            <a:extLst>
              <a:ext uri="{FF2B5EF4-FFF2-40B4-BE49-F238E27FC236}">
                <a16:creationId xmlns:a16="http://schemas.microsoft.com/office/drawing/2014/main" id="{0319AC17-4CE2-4E09-AC56-8BC9E95A5F35}"/>
              </a:ext>
            </a:extLst>
          </p:cNvPr>
          <p:cNvSpPr>
            <a:spLocks noGrp="1"/>
          </p:cNvSpPr>
          <p:nvPr/>
        </p:nvSpPr>
        <p:spPr>
          <a:xfrm>
            <a:off x="8229600" y="2857500"/>
            <a:ext cx="3429000" cy="2667000"/>
          </a:xfrm>
          <a:prstGeom prst="roundRect">
            <a:avLst>
              <a:gd name="adj" fmla="val 6429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E9EDC1D-098B-44E3-9B65-7C434BB5B172}"/>
              </a:ext>
            </a:extLst>
          </p:cNvPr>
          <p:cNvSpPr>
            <a:spLocks noGrp="1"/>
          </p:cNvSpPr>
          <p:nvPr/>
        </p:nvSpPr>
        <p:spPr>
          <a:xfrm>
            <a:off x="8496300" y="3276600"/>
            <a:ext cx="28956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45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F7FBA72-BE93-4A44-8AC5-06ED1F93ED03}"/>
              </a:ext>
            </a:extLst>
          </p:cNvPr>
          <p:cNvSpPr>
            <a:spLocks noGrp="1"/>
          </p:cNvSpPr>
          <p:nvPr/>
        </p:nvSpPr>
        <p:spPr>
          <a:xfrm>
            <a:off x="8496300" y="4200000"/>
            <a:ext cx="2895600" cy="1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 lnSpcReduction="10000"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Qwen пишет заголовок. Условия проверяет схема.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6AEDBF9-95B9-4337-A404-1FF138D7B1F9}"/>
              </a:ext>
            </a:extLst>
          </p:cNvPr>
          <p:cNvSpPr>
            <a:spLocks noGrp="1"/>
          </p:cNvSpPr>
          <p:nvPr/>
        </p:nvSpPr>
        <p:spPr>
          <a:xfrm>
            <a:off x="533400" y="5924550"/>
            <a:ext cx="9906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3257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kicker">
            <a:extLst>
              <a:ext uri="{FF2B5EF4-FFF2-40B4-BE49-F238E27FC236}">
                <a16:creationId xmlns:a16="http://schemas.microsoft.com/office/drawing/2014/main" id="{B25E5950-0364-48BF-AF5C-FF72B3AA307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КОНЦЕПТ ИНТЕРФЕЙСА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D91D287-C9E9-400C-AAF9-D8420F9012AC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Три экрана связывают приз, героя и магазин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6572F7CC-A12A-4986-9465-25BAFB1A90C8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8069796F-3387-4D0F-A0C0-8E6CBC02E282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">
            <a:extLst>
              <a:ext uri="{FF2B5EF4-FFF2-40B4-BE49-F238E27FC236}">
                <a16:creationId xmlns:a16="http://schemas.microsoft.com/office/drawing/2014/main" id="{59672B47-28AA-46E5-9318-7514AD9AF9B8}"/>
              </a:ext>
            </a:extLst>
          </p:cNvPr>
          <p:cNvSpPr>
            <a:spLocks noGrp="1"/>
          </p:cNvSpPr>
          <p:nvPr/>
        </p:nvSpPr>
        <p:spPr>
          <a:xfrm>
            <a:off x="1047750" y="1581150"/>
            <a:ext cx="2895600" cy="4533900"/>
          </a:xfrm>
          <a:prstGeom prst="roundRect">
            <a:avLst>
              <a:gd name="adj" fmla="val 11184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">
            <a:extLst>
              <a:ext uri="{FF2B5EF4-FFF2-40B4-BE49-F238E27FC236}">
                <a16:creationId xmlns:a16="http://schemas.microsoft.com/office/drawing/2014/main" id="{9A1DA5D1-56FB-4271-A238-04CB8CED38DD}"/>
              </a:ext>
            </a:extLst>
          </p:cNvPr>
          <p:cNvSpPr>
            <a:spLocks noGrp="1"/>
          </p:cNvSpPr>
          <p:nvPr/>
        </p:nvSpPr>
        <p:spPr>
          <a:xfrm>
            <a:off x="1162050" y="1695450"/>
            <a:ext cx="2667000" cy="43053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">
            <a:extLst>
              <a:ext uri="{FF2B5EF4-FFF2-40B4-BE49-F238E27FC236}">
                <a16:creationId xmlns:a16="http://schemas.microsoft.com/office/drawing/2014/main" id="{F2933656-A4F7-427F-AD9F-075E0D4F3B37}"/>
              </a:ext>
            </a:extLst>
          </p:cNvPr>
          <p:cNvSpPr>
            <a:spLocks noGrp="1"/>
          </p:cNvSpPr>
          <p:nvPr/>
        </p:nvSpPr>
        <p:spPr>
          <a:xfrm>
            <a:off x="2057400" y="1790700"/>
            <a:ext cx="876300" cy="952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5F2C312-F4C4-471A-9B7A-A50280DB2BDE}"/>
              </a:ext>
            </a:extLst>
          </p:cNvPr>
          <p:cNvSpPr>
            <a:spLocks noGrp="1"/>
          </p:cNvSpPr>
          <p:nvPr/>
        </p:nvSpPr>
        <p:spPr>
          <a:xfrm>
            <a:off x="1352550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9" name="rect">
            <a:extLst>
              <a:ext uri="{FF2B5EF4-FFF2-40B4-BE49-F238E27FC236}">
                <a16:creationId xmlns:a16="http://schemas.microsoft.com/office/drawing/2014/main" id="{AB1E3E67-9C5C-47D1-BA0A-604362F6ECC2}"/>
              </a:ext>
            </a:extLst>
          </p:cNvPr>
          <p:cNvSpPr>
            <a:spLocks noGrp="1"/>
          </p:cNvSpPr>
          <p:nvPr/>
        </p:nvSpPr>
        <p:spPr>
          <a:xfrm>
            <a:off x="4648200" y="1581150"/>
            <a:ext cx="2895600" cy="4533900"/>
          </a:xfrm>
          <a:prstGeom prst="roundRect">
            <a:avLst>
              <a:gd name="adj" fmla="val 11184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">
            <a:extLst>
              <a:ext uri="{FF2B5EF4-FFF2-40B4-BE49-F238E27FC236}">
                <a16:creationId xmlns:a16="http://schemas.microsoft.com/office/drawing/2014/main" id="{A7C59BD7-83D2-4FC5-A431-28EF5E44414C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43053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">
            <a:extLst>
              <a:ext uri="{FF2B5EF4-FFF2-40B4-BE49-F238E27FC236}">
                <a16:creationId xmlns:a16="http://schemas.microsoft.com/office/drawing/2014/main" id="{803ABEA8-B880-4C35-92FA-ACB88B4D5615}"/>
              </a:ext>
            </a:extLst>
          </p:cNvPr>
          <p:cNvSpPr>
            <a:spLocks noGrp="1"/>
          </p:cNvSpPr>
          <p:nvPr/>
        </p:nvSpPr>
        <p:spPr>
          <a:xfrm>
            <a:off x="5657850" y="1790700"/>
            <a:ext cx="876300" cy="952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4F71D152-696B-4AA8-BD85-A8EC17119606}"/>
              </a:ext>
            </a:extLst>
          </p:cNvPr>
          <p:cNvSpPr>
            <a:spLocks noGrp="1"/>
          </p:cNvSpPr>
          <p:nvPr/>
        </p:nvSpPr>
        <p:spPr>
          <a:xfrm>
            <a:off x="4953000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Персонаж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0D16210B-105D-4291-B975-E754C7EA31C6}"/>
              </a:ext>
            </a:extLst>
          </p:cNvPr>
          <p:cNvSpPr>
            <a:spLocks noGrp="1"/>
          </p:cNvSpPr>
          <p:nvPr/>
        </p:nvSpPr>
        <p:spPr>
          <a:xfrm>
            <a:off x="8248650" y="1581150"/>
            <a:ext cx="2895600" cy="4533900"/>
          </a:xfrm>
          <a:prstGeom prst="roundRect">
            <a:avLst>
              <a:gd name="adj" fmla="val 11184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">
            <a:extLst>
              <a:ext uri="{FF2B5EF4-FFF2-40B4-BE49-F238E27FC236}">
                <a16:creationId xmlns:a16="http://schemas.microsoft.com/office/drawing/2014/main" id="{45D54EEF-8891-496E-AD7D-2FBF60308EC8}"/>
              </a:ext>
            </a:extLst>
          </p:cNvPr>
          <p:cNvSpPr>
            <a:spLocks noGrp="1"/>
          </p:cNvSpPr>
          <p:nvPr/>
        </p:nvSpPr>
        <p:spPr>
          <a:xfrm>
            <a:off x="8362950" y="1695450"/>
            <a:ext cx="2667000" cy="430530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">
            <a:extLst>
              <a:ext uri="{FF2B5EF4-FFF2-40B4-BE49-F238E27FC236}">
                <a16:creationId xmlns:a16="http://schemas.microsoft.com/office/drawing/2014/main" id="{AA03427F-F836-4AA0-AF88-9E298E67BE84}"/>
              </a:ext>
            </a:extLst>
          </p:cNvPr>
          <p:cNvSpPr>
            <a:spLocks noGrp="1"/>
          </p:cNvSpPr>
          <p:nvPr/>
        </p:nvSpPr>
        <p:spPr>
          <a:xfrm>
            <a:off x="9258300" y="1790700"/>
            <a:ext cx="876300" cy="952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31A19539-F02D-4F2A-8302-9CECEDC50D38}"/>
              </a:ext>
            </a:extLst>
          </p:cNvPr>
          <p:cNvSpPr>
            <a:spLocks noGrp="1"/>
          </p:cNvSpPr>
          <p:nvPr/>
        </p:nvSpPr>
        <p:spPr>
          <a:xfrm>
            <a:off x="8553450" y="2133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Своя Пятёрочка</a:t>
            </a:r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85DEB555-0AC9-4A61-B577-1267739B78AA}"/>
              </a:ext>
            </a:extLst>
          </p:cNvPr>
          <p:cNvSpPr>
            <a:spLocks noGrp="1"/>
          </p:cNvSpPr>
          <p:nvPr/>
        </p:nvSpPr>
        <p:spPr>
          <a:xfrm>
            <a:off x="1847850" y="2724150"/>
            <a:ext cx="1295400" cy="1295400"/>
          </a:xfrm>
          <a:prstGeom prst="ellipse">
            <a:avLst/>
          </a:prstGeom>
          <a:solidFill>
            <a:srgbClr val="EAF5EB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1 / 1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DD164420-C4D0-4191-A7BB-C1192DD1288F}"/>
              </a:ext>
            </a:extLst>
          </p:cNvPr>
          <p:cNvSpPr>
            <a:spLocks noGrp="1"/>
          </p:cNvSpPr>
          <p:nvPr/>
        </p:nvSpPr>
        <p:spPr>
          <a:xfrm>
            <a:off x="1485900" y="42100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Один визит до приза</a:t>
            </a:r>
          </a:p>
        </p:txBody>
      </p:sp>
      <p:sp>
        <p:nvSpPr>
          <p:cNvPr id="19" name="rect">
            <a:extLst>
              <a:ext uri="{FF2B5EF4-FFF2-40B4-BE49-F238E27FC236}">
                <a16:creationId xmlns:a16="http://schemas.microsoft.com/office/drawing/2014/main" id="{CAE40377-C9D5-433D-B41B-4EB3CEFF0AC2}"/>
              </a:ext>
            </a:extLst>
          </p:cNvPr>
          <p:cNvSpPr>
            <a:spLocks noGrp="1"/>
          </p:cNvSpPr>
          <p:nvPr/>
        </p:nvSpPr>
        <p:spPr>
          <a:xfrm>
            <a:off x="1390650" y="4610100"/>
            <a:ext cx="2209800" cy="17145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">
            <a:extLst>
              <a:ext uri="{FF2B5EF4-FFF2-40B4-BE49-F238E27FC236}">
                <a16:creationId xmlns:a16="http://schemas.microsoft.com/office/drawing/2014/main" id="{DEEA6D7F-74D8-4DF5-8634-0620E947209E}"/>
              </a:ext>
            </a:extLst>
          </p:cNvPr>
          <p:cNvSpPr>
            <a:spLocks noGrp="1"/>
          </p:cNvSpPr>
          <p:nvPr/>
        </p:nvSpPr>
        <p:spPr>
          <a:xfrm>
            <a:off x="1390650" y="4610100"/>
            <a:ext cx="1581150" cy="171450"/>
          </a:xfrm>
          <a:prstGeom prst="roundRect">
            <a:avLst>
              <a:gd name="adj" fmla="val 50000"/>
            </a:avLst>
          </a:prstGeom>
          <a:solidFill>
            <a:srgbClr val="E42A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1C3E4677-B0A5-4C6D-81FF-22583075C15B}"/>
              </a:ext>
            </a:extLst>
          </p:cNvPr>
          <p:cNvSpPr>
            <a:spLocks noGrp="1"/>
          </p:cNvSpPr>
          <p:nvPr/>
        </p:nvSpPr>
        <p:spPr>
          <a:xfrm>
            <a:off x="1390650" y="504825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Кофе выбран</a:t>
            </a:r>
          </a:p>
        </p:txBody>
      </p:sp>
      <p:sp>
        <p:nvSpPr>
          <p:cNvPr id="22" name="rect">
            <a:extLst>
              <a:ext uri="{FF2B5EF4-FFF2-40B4-BE49-F238E27FC236}">
                <a16:creationId xmlns:a16="http://schemas.microsoft.com/office/drawing/2014/main" id="{8C885C25-2FBD-4C9F-8D8D-284710CC5E29}"/>
              </a:ext>
            </a:extLst>
          </p:cNvPr>
          <p:cNvSpPr>
            <a:spLocks noGrp="1"/>
          </p:cNvSpPr>
          <p:nvPr/>
        </p:nvSpPr>
        <p:spPr>
          <a:xfrm>
            <a:off x="5010150" y="2686050"/>
            <a:ext cx="1943100" cy="781050"/>
          </a:xfrm>
          <a:prstGeom prst="roundRect">
            <a:avLst>
              <a:gd name="adj" fmla="val 17073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56CCDC21-63F8-4AF6-8A5B-D2E95A14A3EA}"/>
              </a:ext>
            </a:extLst>
          </p:cNvPr>
          <p:cNvSpPr>
            <a:spLocks noGrp="1"/>
          </p:cNvSpPr>
          <p:nvPr/>
        </p:nvSpPr>
        <p:spPr>
          <a:xfrm>
            <a:off x="5181600" y="29146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LV 2 · +куртка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6BFFB9CD-0F4D-46CD-B571-E7CDB35256AC}"/>
              </a:ext>
            </a:extLst>
          </p:cNvPr>
          <p:cNvSpPr>
            <a:spLocks noGrp="1"/>
          </p:cNvSpPr>
          <p:nvPr/>
        </p:nvSpPr>
        <p:spPr>
          <a:xfrm>
            <a:off x="4953000" y="3829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До нового уровня</a:t>
            </a:r>
          </a:p>
        </p:txBody>
      </p:sp>
      <p:sp>
        <p:nvSpPr>
          <p:cNvPr id="25" name="rect">
            <a:extLst>
              <a:ext uri="{FF2B5EF4-FFF2-40B4-BE49-F238E27FC236}">
                <a16:creationId xmlns:a16="http://schemas.microsoft.com/office/drawing/2014/main" id="{E627027D-9B82-44EE-8A15-910A7AF8A43F}"/>
              </a:ext>
            </a:extLst>
          </p:cNvPr>
          <p:cNvSpPr>
            <a:spLocks noGrp="1"/>
          </p:cNvSpPr>
          <p:nvPr/>
        </p:nvSpPr>
        <p:spPr>
          <a:xfrm>
            <a:off x="4953000" y="4248150"/>
            <a:ext cx="2095500" cy="533400"/>
          </a:xfrm>
          <a:prstGeom prst="roundRect">
            <a:avLst>
              <a:gd name="adj" fmla="val 21429"/>
            </a:avLst>
          </a:prstGeom>
          <a:solidFill>
            <a:srgbClr val="FCEBE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4D4FF4D4-582B-4FBE-BD79-92D156FB7DF7}"/>
              </a:ext>
            </a:extLst>
          </p:cNvPr>
          <p:cNvSpPr>
            <a:spLocks noGrp="1"/>
          </p:cNvSpPr>
          <p:nvPr/>
        </p:nvSpPr>
        <p:spPr>
          <a:xfrm>
            <a:off x="5105400" y="44005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Остался 1 маршрут</a:t>
            </a:r>
          </a:p>
        </p:txBody>
      </p:sp>
      <p:sp>
        <p:nvSpPr>
          <p:cNvPr id="27" name="rect">
            <a:extLst>
              <a:ext uri="{FF2B5EF4-FFF2-40B4-BE49-F238E27FC236}">
                <a16:creationId xmlns:a16="http://schemas.microsoft.com/office/drawing/2014/main" id="{912352EF-A4F8-42A7-8199-ADD7FBA0EA45}"/>
              </a:ext>
            </a:extLst>
          </p:cNvPr>
          <p:cNvSpPr>
            <a:spLocks noGrp="1"/>
          </p:cNvSpPr>
          <p:nvPr/>
        </p:nvSpPr>
        <p:spPr>
          <a:xfrm>
            <a:off x="4953000" y="5029200"/>
            <a:ext cx="2095500" cy="514350"/>
          </a:xfrm>
          <a:prstGeom prst="roundRect">
            <a:avLst>
              <a:gd name="adj" fmla="val 22222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DAEF3E85-77BD-4B3E-BC2F-C6EE329D49E7}"/>
              </a:ext>
            </a:extLst>
          </p:cNvPr>
          <p:cNvSpPr>
            <a:spLocks noGrp="1"/>
          </p:cNvSpPr>
          <p:nvPr/>
        </p:nvSpPr>
        <p:spPr>
          <a:xfrm>
            <a:off x="5105400" y="51816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Экономия 340 ₽/мес</a:t>
            </a:r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EED30B8D-8068-464A-94B7-7F5CA0D37922}"/>
              </a:ext>
            </a:extLst>
          </p:cNvPr>
          <p:cNvSpPr>
            <a:spLocks noGrp="1"/>
          </p:cNvSpPr>
          <p:nvPr/>
        </p:nvSpPr>
        <p:spPr>
          <a:xfrm>
            <a:off x="8591550" y="2724150"/>
            <a:ext cx="495300" cy="4953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XP</a:t>
            </a:r>
          </a:p>
        </p:txBody>
      </p:sp>
      <p:sp>
        <p:nvSpPr>
          <p:cNvPr id="30" name="circle">
            <a:extLst>
              <a:ext uri="{FF2B5EF4-FFF2-40B4-BE49-F238E27FC236}">
                <a16:creationId xmlns:a16="http://schemas.microsoft.com/office/drawing/2014/main" id="{F478F7DB-8FFD-4591-8D83-3A93C817C092}"/>
              </a:ext>
            </a:extLst>
          </p:cNvPr>
          <p:cNvSpPr>
            <a:spLocks noGrp="1"/>
          </p:cNvSpPr>
          <p:nvPr/>
        </p:nvSpPr>
        <p:spPr>
          <a:xfrm>
            <a:off x="9239250" y="2724150"/>
            <a:ext cx="495300" cy="4953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</a:t>
            </a: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EECEB411-EE8E-40C4-AC8D-FA5A7D5A3019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95300" cy="495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FP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2F385939-2C8F-454A-810A-2B4C7D94451E}"/>
              </a:ext>
            </a:extLst>
          </p:cNvPr>
          <p:cNvSpPr>
            <a:spLocks noGrp="1"/>
          </p:cNvSpPr>
          <p:nvPr/>
        </p:nvSpPr>
        <p:spPr>
          <a:xfrm>
            <a:off x="8572500" y="3676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Сезон магазина: 68%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F8B53DA6-3F12-4D33-A2EC-ACCB85375452}"/>
              </a:ext>
            </a:extLst>
          </p:cNvPr>
          <p:cNvSpPr>
            <a:spLocks noGrp="1"/>
          </p:cNvSpPr>
          <p:nvPr/>
        </p:nvSpPr>
        <p:spPr>
          <a:xfrm>
            <a:off x="8572500" y="4057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Доступно голосов: 1</a:t>
            </a:r>
          </a:p>
        </p:txBody>
      </p:sp>
      <p:sp>
        <p:nvSpPr>
          <p:cNvPr id="34" name="rect">
            <a:extLst>
              <a:ext uri="{FF2B5EF4-FFF2-40B4-BE49-F238E27FC236}">
                <a16:creationId xmlns:a16="http://schemas.microsoft.com/office/drawing/2014/main" id="{846FCCDC-D654-4E1B-9138-70B0DDF710D8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2095500" cy="17145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">
            <a:extLst>
              <a:ext uri="{FF2B5EF4-FFF2-40B4-BE49-F238E27FC236}">
                <a16:creationId xmlns:a16="http://schemas.microsoft.com/office/drawing/2014/main" id="{903368B4-F879-42F0-9869-D2FC5AF40D5B}"/>
              </a:ext>
            </a:extLst>
          </p:cNvPr>
          <p:cNvSpPr>
            <a:spLocks noGrp="1"/>
          </p:cNvSpPr>
          <p:nvPr/>
        </p:nvSpPr>
        <p:spPr>
          <a:xfrm>
            <a:off x="8572500" y="4514850"/>
            <a:ext cx="1352550" cy="171450"/>
          </a:xfrm>
          <a:prstGeom prst="roundRect">
            <a:avLst>
              <a:gd name="adj" fmla="val 50000"/>
            </a:avLst>
          </a:prstGeom>
          <a:solidFill>
            <a:srgbClr val="4D9D5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C1260C65-4533-4685-AED7-A127B3F5BFB4}"/>
              </a:ext>
            </a:extLst>
          </p:cNvPr>
          <p:cNvSpPr>
            <a:spLocks noGrp="1"/>
          </p:cNvSpPr>
          <p:nvPr/>
        </p:nvSpPr>
        <p:spPr>
          <a:xfrm>
            <a:off x="8572500" y="4933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FastPass: 1 в месяц</a:t>
            </a:r>
          </a:p>
        </p:txBody>
      </p:sp>
    </p:spTree>
    <p:extLst>
      <p:ext uri="{BB962C8B-B14F-4D97-AF65-F5344CB8AC3E}">
        <p14:creationId xmlns:p14="http://schemas.microsoft.com/office/powerpoint/2010/main" val="131739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icker">
            <a:extLst>
              <a:ext uri="{FF2B5EF4-FFF2-40B4-BE49-F238E27FC236}">
                <a16:creationId xmlns:a16="http://schemas.microsoft.com/office/drawing/2014/main" id="{7348C9C6-3804-49BD-9C40-ED373DBAFA6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ДОКАЗАТЕЛЬСТВА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6C276D1-EDB6-4E41-94E0-6AC7C28CAF61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Финансируемая игра лидирует в сравнении политик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A9AD8973-CF23-454E-9901-E1633F9188F5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2EAC27C3-3E9E-4AAF-8784-79C1DF74C802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">
            <a:extLst>
              <a:ext uri="{FF2B5EF4-FFF2-40B4-BE49-F238E27FC236}">
                <a16:creationId xmlns:a16="http://schemas.microsoft.com/office/drawing/2014/main" id="{DCC47E5F-A061-43BC-AA8B-CACBEB01C8C8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5219700" cy="4000500"/>
          </a:xfrm>
          <a:prstGeom prst="roundRect">
            <a:avLst>
              <a:gd name="adj" fmla="val 4286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DAABBCD-9188-4336-A78F-66C053E5F752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Работает локально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C6DF1C6-898A-4992-8E9D-ECCCEFCD077D}"/>
              </a:ext>
            </a:extLst>
          </p:cNvPr>
          <p:cNvSpPr>
            <a:spLocks noGrp="1"/>
          </p:cNvSpPr>
          <p:nvPr/>
        </p:nvSpPr>
        <p:spPr>
          <a:xfrm>
            <a:off x="838200" y="2600000"/>
            <a:ext cx="4286250" cy="30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276 проверок · 16 E2E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40/40 решений по зафиксированной рубрике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8/8 корректных no_action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✓ LLM: 60/60 атак · 24/24 текста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/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rect">
            <a:extLst>
              <a:ext uri="{FF2B5EF4-FFF2-40B4-BE49-F238E27FC236}">
                <a16:creationId xmlns:a16="http://schemas.microsoft.com/office/drawing/2014/main" id="{9BB33861-B925-48C6-AC14-E173561810D6}"/>
              </a:ext>
            </a:extLst>
          </p:cNvPr>
          <p:cNvSpPr>
            <a:spLocks noGrp="1"/>
          </p:cNvSpPr>
          <p:nvPr/>
        </p:nvSpPr>
        <p:spPr>
          <a:xfrm>
            <a:off x="6057900" y="1714500"/>
            <a:ext cx="5600700" cy="4000500"/>
          </a:xfrm>
          <a:prstGeom prst="roundRect">
            <a:avLst>
              <a:gd name="adj" fmla="val 4286"/>
            </a:avLst>
          </a:prstGeom>
          <a:solidFill>
            <a:srgbClr val="FFF4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4FCA87E-38F9-4FD2-9AF9-19C6EFF64F2C}"/>
              </a:ext>
            </a:extLst>
          </p:cNvPr>
          <p:cNvSpPr>
            <a:spLocks noGrp="1"/>
          </p:cNvSpPr>
          <p:nvPr/>
        </p:nvSpPr>
        <p:spPr>
          <a:xfrm>
            <a:off x="6362700" y="20764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B56B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56B00"/>
                </a:solidFill>
                <a:latin typeface="Arial"/>
                <a:ea typeface="Arial"/>
                <a:cs typeface="Arial"/>
              </a:rPr>
              <a:t>Синтетика · сравнение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4B0D71B6-661A-4212-8249-4BFB37DA52F9}"/>
              </a:ext>
            </a:extLst>
          </p:cNvPr>
          <p:cNvSpPr>
            <a:spLocks noGrp="1"/>
          </p:cNvSpPr>
          <p:nvPr/>
        </p:nvSpPr>
        <p:spPr>
          <a:xfrm>
            <a:off x="6362700" y="2600000"/>
            <a:ext cx="4762500" cy="30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Funded: +3 845 ₽/когорту · 5/5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+20,6 дня · охват 20,4%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broad −7 996 ₽ · fixed +1 025 ₽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learned +18 665 ₽ · rules +13 534 ₽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• fixed −6 791 ₽ · learned выше 5/5</a:t>
            </a:r>
          </a:p>
          <a:p>
            <a:pPr algn="l">
              <a:buNone/>
              <a:defRPr sz="30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4372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">
            <a:extLst>
              <a:ext uri="{FF2B5EF4-FFF2-40B4-BE49-F238E27FC236}">
                <a16:creationId xmlns:a16="http://schemas.microsoft.com/office/drawing/2014/main" id="{5327A911-DA57-46E6-BCA9-74F6BB73903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РИСКИ И ОТВЕТЫ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EF1EF2-C5B3-4A28-BF64-F59F5172A96F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Ключевые риски проверяются внутри MVP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5EB35880-4C47-4AEE-958C-0DC8231494DD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09BC5252-8C75-44A2-B796-0E5C9311FB94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ADC339D-B376-476E-8BCD-3000C1A0ABF3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2A4F7C9-4AFC-4580-A99F-37BE50E70922}"/>
              </a:ext>
            </a:extLst>
          </p:cNvPr>
          <p:cNvSpPr>
            <a:spLocks noGrp="1"/>
          </p:cNvSpPr>
          <p:nvPr/>
        </p:nvSpPr>
        <p:spPr>
          <a:xfrm>
            <a:off x="4324350" y="17145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Как снижаем</a:t>
            </a:r>
          </a:p>
        </p:txBody>
      </p:sp>
      <p:sp>
        <p:nvSpPr>
          <p:cNvPr id="7" name="rect">
            <a:extLst>
              <a:ext uri="{FF2B5EF4-FFF2-40B4-BE49-F238E27FC236}">
                <a16:creationId xmlns:a16="http://schemas.microsoft.com/office/drawing/2014/main" id="{3217B0FA-2A3F-4CB7-A7A1-7B1835D99CC9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82A49D5-B85B-43BF-9EAE-31A877600EC1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Награда съедает маржу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446C080-E63D-4120-AF2C-5DAF3A039C79}"/>
              </a:ext>
            </a:extLst>
          </p:cNvPr>
          <p:cNvSpPr>
            <a:spLocks noGrp="1"/>
          </p:cNvSpPr>
          <p:nvPr/>
        </p:nvSpPr>
        <p:spPr>
          <a:xfrm>
            <a:off x="4324350" y="228600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Supplier-funded trial проверяем; без него — цифровой дроп, EV-фильтр и no_action.</a:t>
            </a:r>
          </a:p>
        </p:txBody>
      </p:sp>
      <p:sp>
        <p:nvSpPr>
          <p:cNvPr id="10" name="rect">
            <a:extLst>
              <a:ext uri="{FF2B5EF4-FFF2-40B4-BE49-F238E27FC236}">
                <a16:creationId xmlns:a16="http://schemas.microsoft.com/office/drawing/2014/main" id="{1A5144B0-F064-4B46-980E-B713C96BDCB8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0701CB0-88C8-41B1-A1AC-0F028739817B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Субсидируем обычный визит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CDC84CB-9209-4357-A2AD-DCB56AE9D18C}"/>
              </a:ext>
            </a:extLst>
          </p:cNvPr>
          <p:cNvSpPr>
            <a:spLocks noGrp="1"/>
          </p:cNvSpPr>
          <p:nvPr/>
        </p:nvSpPr>
        <p:spPr>
          <a:xfrm>
            <a:off x="4324350" y="302895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Сравниваем с reward-only при одинаковом бюджете и оцениваем baseline.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6CEA01EF-A4B8-4448-AA4F-F9A4B97CE78B}"/>
              </a:ext>
            </a:extLst>
          </p:cNvPr>
          <p:cNvSpPr>
            <a:spLocks noGrp="1"/>
          </p:cNvSpPr>
          <p:nvPr/>
        </p:nvSpPr>
        <p:spPr>
          <a:xfrm>
            <a:off x="533400" y="36195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FF426E5D-8987-4107-928F-8F505690C3E3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Накрутка чеков и FastPass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29465D7-6CD5-4468-BF37-91B80CE82A54}"/>
              </a:ext>
            </a:extLst>
          </p:cNvPr>
          <p:cNvSpPr>
            <a:spLocks noGrp="1"/>
          </p:cNvSpPr>
          <p:nvPr/>
        </p:nvSpPr>
        <p:spPr>
          <a:xfrm>
            <a:off x="4324350" y="377190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597"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Разные дни и cooldown; FastPass — 1 в месяц, только пилотные магазины, отключение в пик.</a:t>
            </a:r>
          </a:p>
        </p:txBody>
      </p:sp>
      <p:sp>
        <p:nvSpPr>
          <p:cNvPr id="16" name="rect">
            <a:extLst>
              <a:ext uri="{FF2B5EF4-FFF2-40B4-BE49-F238E27FC236}">
                <a16:creationId xmlns:a16="http://schemas.microsoft.com/office/drawing/2014/main" id="{50E35269-6B61-40A2-AABE-5E1BED5ACF0D}"/>
              </a:ext>
            </a:extLst>
          </p:cNvPr>
          <p:cNvSpPr>
            <a:spLocks noGrp="1"/>
          </p:cNvSpPr>
          <p:nvPr/>
        </p:nvSpPr>
        <p:spPr>
          <a:xfrm>
            <a:off x="533400" y="436245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C0B883A-9077-4BED-B692-29DCAA3FC92A}"/>
              </a:ext>
            </a:extLst>
          </p:cNvPr>
          <p:cNvSpPr>
            <a:spLocks noGrp="1"/>
          </p:cNvSpPr>
          <p:nvPr/>
        </p:nvSpPr>
        <p:spPr>
          <a:xfrm>
            <a:off x="723900" y="45148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LLM выдумывает условие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5A51F30D-EC86-41FE-8B7A-19EA76C17690}"/>
              </a:ext>
            </a:extLst>
          </p:cNvPr>
          <p:cNvSpPr>
            <a:spLocks noGrp="1"/>
          </p:cNvSpPr>
          <p:nvPr/>
        </p:nvSpPr>
        <p:spPr>
          <a:xfrm>
            <a:off x="4324350" y="451485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LLM видит только JSON; SKU, цены и правила задаёт движок.</a:t>
            </a:r>
          </a:p>
        </p:txBody>
      </p:sp>
      <p:sp>
        <p:nvSpPr>
          <p:cNvPr id="19" name="rect">
            <a:extLst>
              <a:ext uri="{FF2B5EF4-FFF2-40B4-BE49-F238E27FC236}">
                <a16:creationId xmlns:a16="http://schemas.microsoft.com/office/drawing/2014/main" id="{098710BC-D6CE-4246-8C30-B863F22861F9}"/>
              </a:ext>
            </a:extLst>
          </p:cNvPr>
          <p:cNvSpPr>
            <a:spLocks noGrp="1"/>
          </p:cNvSpPr>
          <p:nvPr/>
        </p:nvSpPr>
        <p:spPr>
          <a:xfrm>
            <a:off x="533400" y="51054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5DB51B7C-F81C-42B3-BDBE-054A0F5BDDC1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Игра растит MAU, не покупки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3D180775-96D2-4A87-9CEB-59A3D1E3D887}"/>
              </a:ext>
            </a:extLst>
          </p:cNvPr>
          <p:cNvSpPr>
            <a:spLocks noGrp="1"/>
          </p:cNvSpPr>
          <p:nvPr/>
        </p:nvSpPr>
        <p:spPr>
          <a:xfrm>
            <a:off x="4324350" y="5257800"/>
            <a:ext cx="706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Покупочные недели за 4 недели плюс замер 4 недель после снятия механики; app MAU вторична.</a:t>
            </a:r>
          </a:p>
        </p:txBody>
      </p:sp>
    </p:spTree>
    <p:extLst>
      <p:ext uri="{BB962C8B-B14F-4D97-AF65-F5344CB8AC3E}">
        <p14:creationId xmlns:p14="http://schemas.microsoft.com/office/powerpoint/2010/main" val="1947258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icker">
            <a:extLst>
              <a:ext uri="{FF2B5EF4-FFF2-40B4-BE49-F238E27FC236}">
                <a16:creationId xmlns:a16="http://schemas.microsoft.com/office/drawing/2014/main" id="{1075F359-AC2E-4408-9FF2-66930CC8AC0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ГОТОВНОСТЬ · 4:10–4:40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C308E3A-AE1F-443D-9FB6-61B245723394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Следующий шаг — проверить вклад игры на данных X5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BA46723-4F5D-44BC-ABCC-6776758E6ED3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13C798B6-358D-4924-9013-D0A84B4A771B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F44A6EF3-A437-4FE2-9233-6C581B1D1F73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0"/>
          </a:xfrm>
          <a:prstGeom prst="line">
            <a:avLst/>
          </a:prstGeom>
          <a:noFill/>
          <a:ln w="9525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">
            <a:extLst>
              <a:ext uri="{FF2B5EF4-FFF2-40B4-BE49-F238E27FC236}">
                <a16:creationId xmlns:a16="http://schemas.microsoft.com/office/drawing/2014/main" id="{7AA7BE90-915E-4E57-8D2D-6D80FE62B093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4719A47-45D9-4E25-B8EB-91D27398240B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2895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1 · Сделано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AEFE5DF-D356-4171-A38E-D09D75EC3A73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28956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Коробка · челлендж · Ads · обмен · крафт</a:t>
            </a: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656C4E8E-392A-47B9-B90D-500C8FC404B3}"/>
              </a:ext>
            </a:extLst>
          </p:cNvPr>
          <p:cNvSpPr>
            <a:spLocks noGrp="1"/>
          </p:cNvSpPr>
          <p:nvPr/>
        </p:nvSpPr>
        <p:spPr>
          <a:xfrm>
            <a:off x="533400" y="5295900"/>
            <a:ext cx="190500" cy="1905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7BD2ABA-6B22-4D84-A80A-73AB4B448AB4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rect">
            <a:extLst>
              <a:ext uri="{FF2B5EF4-FFF2-40B4-BE49-F238E27FC236}">
                <a16:creationId xmlns:a16="http://schemas.microsoft.com/office/drawing/2014/main" id="{A38300AD-DB71-411A-92B8-01A182D7AD52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63CFC4A-6BE8-4363-9A0A-334CFEFEAFDC}"/>
              </a:ext>
            </a:extLst>
          </p:cNvPr>
          <p:cNvSpPr>
            <a:spLocks noGrp="1"/>
          </p:cNvSpPr>
          <p:nvPr/>
        </p:nvSpPr>
        <p:spPr>
          <a:xfrm>
            <a:off x="4648200" y="2095500"/>
            <a:ext cx="2895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2 · Проверено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BED886C-1BDB-4157-89CA-3C9B1CB19497}"/>
              </a:ext>
            </a:extLst>
          </p:cNvPr>
          <p:cNvSpPr>
            <a:spLocks noGrp="1"/>
          </p:cNvSpPr>
          <p:nvPr/>
        </p:nvSpPr>
        <p:spPr>
          <a:xfrm>
            <a:off x="4648200" y="3009900"/>
            <a:ext cx="28956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Выдача · CPA · резервы · симуляция</a:t>
            </a: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BB811C79-716E-4864-9028-0A5FFCAA3DDD}"/>
              </a:ext>
            </a:extLst>
          </p:cNvPr>
          <p:cNvSpPr>
            <a:spLocks noGrp="1"/>
          </p:cNvSpPr>
          <p:nvPr/>
        </p:nvSpPr>
        <p:spPr>
          <a:xfrm>
            <a:off x="4381500" y="5295900"/>
            <a:ext cx="190500" cy="190500"/>
          </a:xfrm>
          <a:prstGeom prst="ellipse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C3FF02D-07A2-4FD1-AD9D-C0D62D75D8E6}"/>
              </a:ext>
            </a:extLst>
          </p:cNvPr>
          <p:cNvSpPr>
            <a:spLocks noGrp="1"/>
          </p:cNvSpPr>
          <p:nvPr/>
        </p:nvSpPr>
        <p:spPr>
          <a:xfrm>
            <a:off x="4381500" y="56769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rect">
            <a:extLst>
              <a:ext uri="{FF2B5EF4-FFF2-40B4-BE49-F238E27FC236}">
                <a16:creationId xmlns:a16="http://schemas.microsoft.com/office/drawing/2014/main" id="{02F2726D-5E87-48FB-980D-B63E6F717478}"/>
              </a:ext>
            </a:extLst>
          </p:cNvPr>
          <p:cNvSpPr>
            <a:spLocks noGrp="1"/>
          </p:cNvSpPr>
          <p:nvPr/>
        </p:nvSpPr>
        <p:spPr>
          <a:xfrm>
            <a:off x="8229600" y="1714500"/>
            <a:ext cx="3429000" cy="3238500"/>
          </a:xfrm>
          <a:prstGeom prst="roundRect">
            <a:avLst>
              <a:gd name="adj" fmla="val 5294"/>
            </a:avLst>
          </a:prstGeom>
          <a:solidFill>
            <a:srgbClr val="EAF5E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D89672B-982D-48BC-917A-59379ABB8672}"/>
              </a:ext>
            </a:extLst>
          </p:cNvPr>
          <p:cNvSpPr>
            <a:spLocks noGrp="1"/>
          </p:cNvSpPr>
          <p:nvPr/>
        </p:nvSpPr>
        <p:spPr>
          <a:xfrm>
            <a:off x="8496300" y="2095500"/>
            <a:ext cx="28956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>3 · Пилот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ED499358-62E4-41B2-BC60-ED41BA54E951}"/>
              </a:ext>
            </a:extLst>
          </p:cNvPr>
          <p:cNvSpPr>
            <a:spLocks noGrp="1"/>
          </p:cNvSpPr>
          <p:nvPr/>
        </p:nvSpPr>
        <p:spPr>
          <a:xfrm>
            <a:off x="8496300" y="3009900"/>
            <a:ext cx="28956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Логи X5 · SKU · серверный учёт · POS · A/B</a:t>
            </a:r>
          </a:p>
        </p:txBody>
      </p:sp>
      <p:sp>
        <p:nvSpPr>
          <p:cNvPr id="19" name="circle">
            <a:extLst>
              <a:ext uri="{FF2B5EF4-FFF2-40B4-BE49-F238E27FC236}">
                <a16:creationId xmlns:a16="http://schemas.microsoft.com/office/drawing/2014/main" id="{2305AFD1-9E56-436C-B957-645443813355}"/>
              </a:ext>
            </a:extLst>
          </p:cNvPr>
          <p:cNvSpPr>
            <a:spLocks noGrp="1"/>
          </p:cNvSpPr>
          <p:nvPr/>
        </p:nvSpPr>
        <p:spPr>
          <a:xfrm>
            <a:off x="8229600" y="5295900"/>
            <a:ext cx="190500" cy="190500"/>
          </a:xfrm>
          <a:prstGeom prst="ellipse">
            <a:avLst/>
          </a:prstGeom>
          <a:solidFill>
            <a:srgbClr val="4D9D54"/>
          </a:solidFill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endParaRPr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AD313B9-EB2D-4002-BBA6-27F836E702A4}"/>
              </a:ext>
            </a:extLst>
          </p:cNvPr>
          <p:cNvSpPr>
            <a:spLocks noGrp="1"/>
          </p:cNvSpPr>
          <p:nvPr/>
        </p:nvSpPr>
        <p:spPr>
          <a:xfrm>
            <a:off x="8229600" y="56769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4D9D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9D5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5260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">
            <a:extLst>
              <a:ext uri="{FF2B5EF4-FFF2-40B4-BE49-F238E27FC236}">
                <a16:creationId xmlns:a16="http://schemas.microsoft.com/office/drawing/2014/main" id="{0D3ADD06-530C-41B0-AA6F-DD40E083BC6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УЧАСТНИКИ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E0F2541-575A-47DC-9D7F-CCE5B50CAEBC}"/>
              </a:ext>
            </a:extLst>
          </p:cNvPr>
          <p:cNvSpPr>
            <a:spLocks noGrp="1"/>
          </p:cNvSpPr>
          <p:nvPr/>
        </p:nvSpPr>
        <p:spPr>
          <a:xfrm>
            <a:off x="533400" y="6286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Команда: роли, ответственность и участие</a:t>
            </a: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297A05AB-A952-4970-BC7D-ECF089BEAB42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11125200" cy="0"/>
          </a:xfrm>
          <a:prstGeom prst="line">
            <a:avLst/>
          </a:prstGeom>
          <a:noFill/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995A54C9-DA81-40EA-8B02-703A1ACCDF89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DF3D185-AF03-4B33-83B7-9C5EC431845B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4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2A2D"/>
                </a:solidFill>
                <a:latin typeface="Arial"/>
                <a:ea typeface="Arial"/>
                <a:cs typeface="Arial"/>
              </a:rPr>
              <a:t>3 участника: 1 AI Product + 2 AI Engineer, все 1 курс. Текущий статус задач — в работе.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7F04765-AD6F-413C-BF6C-51F734D6F7E6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Участник / роль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61E2458-B84C-4EEE-8E28-7BE9608CEC21}"/>
              </a:ext>
            </a:extLst>
          </p:cNvPr>
          <p:cNvSpPr>
            <a:spLocks noGrp="1"/>
          </p:cNvSpPr>
          <p:nvPr/>
        </p:nvSpPr>
        <p:spPr>
          <a:xfrm>
            <a:off x="3067050" y="20764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Зона ответственности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620BA6D-D7F6-4854-90FC-090D33C9F351}"/>
              </a:ext>
            </a:extLst>
          </p:cNvPr>
          <p:cNvSpPr>
            <a:spLocks noGrp="1"/>
          </p:cNvSpPr>
          <p:nvPr/>
        </p:nvSpPr>
        <p:spPr>
          <a:xfrm>
            <a:off x="5410200" y="20764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Рабочий фокус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1D7B124-EA63-458B-B095-A8EC13C8BB72}"/>
              </a:ext>
            </a:extLst>
          </p:cNvPr>
          <p:cNvSpPr>
            <a:spLocks noGrp="1"/>
          </p:cNvSpPr>
          <p:nvPr/>
        </p:nvSpPr>
        <p:spPr>
          <a:xfrm>
            <a:off x="9505950" y="2076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Участие</a:t>
            </a:r>
          </a:p>
        </p:txBody>
      </p:sp>
      <p:sp>
        <p:nvSpPr>
          <p:cNvPr id="10" name="rect">
            <a:extLst>
              <a:ext uri="{FF2B5EF4-FFF2-40B4-BE49-F238E27FC236}">
                <a16:creationId xmlns:a16="http://schemas.microsoft.com/office/drawing/2014/main" id="{5750267A-CE67-4C05-8B82-8F117A3DF9A7}"/>
              </a:ext>
            </a:extLst>
          </p:cNvPr>
          <p:cNvSpPr>
            <a:spLocks noGrp="1"/>
          </p:cNvSpPr>
          <p:nvPr/>
        </p:nvSpPr>
        <p:spPr>
          <a:xfrm>
            <a:off x="533400" y="24384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547CF60-16F8-4E15-8E2E-73987DC1090B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Вербицкий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Артемий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Андреевич</a:t>
            </a:r>
            <a:r>
              <a:rPr lang="ru-RU"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· A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I Product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44EE792-55C7-4A15-998D-453C005B5497}"/>
              </a:ext>
            </a:extLst>
          </p:cNvPr>
          <p:cNvSpPr>
            <a:spLocks noGrp="1"/>
          </p:cNvSpPr>
          <p:nvPr/>
        </p:nvSpPr>
        <p:spPr>
          <a:xfrm>
            <a:off x="3067050" y="25908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Гипотеза, MVP, метрики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1E9ABC0-1425-4C08-9299-52824F4E748A}"/>
              </a:ext>
            </a:extLst>
          </p:cNvPr>
          <p:cNvSpPr>
            <a:spLocks noGrp="1"/>
          </p:cNvSpPr>
          <p:nvPr/>
        </p:nvSpPr>
        <p:spPr>
          <a:xfrm>
            <a:off x="5410200" y="25908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JTBD, экономика, эксперимент и материалы</a:t>
            </a:r>
          </a:p>
        </p:txBody>
      </p:sp>
      <p:sp>
        <p:nvSpPr>
          <p:cNvPr id="14" name="rect">
            <a:extLst>
              <a:ext uri="{FF2B5EF4-FFF2-40B4-BE49-F238E27FC236}">
                <a16:creationId xmlns:a16="http://schemas.microsoft.com/office/drawing/2014/main" id="{B210DD69-5C1A-4BEA-BF94-A751F8633991}"/>
              </a:ext>
            </a:extLst>
          </p:cNvPr>
          <p:cNvSpPr>
            <a:spLocks noGrp="1"/>
          </p:cNvSpPr>
          <p:nvPr/>
        </p:nvSpPr>
        <p:spPr>
          <a:xfrm>
            <a:off x="9505950" y="2562225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C794591-C5FD-4BB7-9750-591D6F5EF7F9}"/>
              </a:ext>
            </a:extLst>
          </p:cNvPr>
          <p:cNvSpPr>
            <a:spLocks noGrp="1"/>
          </p:cNvSpPr>
          <p:nvPr/>
        </p:nvSpPr>
        <p:spPr>
          <a:xfrm>
            <a:off x="9620250" y="26479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Активное</a:t>
            </a:r>
          </a:p>
        </p:txBody>
      </p:sp>
      <p:sp>
        <p:nvSpPr>
          <p:cNvPr id="22" name="rect">
            <a:extLst>
              <a:ext uri="{FF2B5EF4-FFF2-40B4-BE49-F238E27FC236}">
                <a16:creationId xmlns:a16="http://schemas.microsoft.com/office/drawing/2014/main" id="{97100CB3-C6BC-4E23-9257-A055BC444DF2}"/>
              </a:ext>
            </a:extLst>
          </p:cNvPr>
          <p:cNvSpPr>
            <a:spLocks noGrp="1"/>
          </p:cNvSpPr>
          <p:nvPr/>
        </p:nvSpPr>
        <p:spPr>
          <a:xfrm>
            <a:off x="533400" y="38862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BADA095-76FC-4E2B-B8F9-2232004F42E5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Гуреева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Мария</a:t>
            </a: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Дмитриевна</a:t>
            </a:r>
            <a:endParaRPr sz="1200" b="1" dirty="0">
              <a:solidFill>
                <a:srgbClr val="121212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AI Engineer · </a:t>
            </a:r>
            <a:r>
              <a:rPr sz="1200" b="1" dirty="0" err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Recsys</a:t>
            </a:r>
            <a:endParaRPr sz="1200" b="1" dirty="0">
              <a:solidFill>
                <a:srgbClr val="12121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9D8C4430-95CB-4C74-B1E4-89921D0BAA4C}"/>
              </a:ext>
            </a:extLst>
          </p:cNvPr>
          <p:cNvSpPr>
            <a:spLocks noGrp="1"/>
          </p:cNvSpPr>
          <p:nvPr/>
        </p:nvSpPr>
        <p:spPr>
          <a:xfrm>
            <a:off x="3067050" y="40386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Данные, ranking, eval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DB3B2E2-DAE1-42D5-BF17-7CA78BAC13E2}"/>
              </a:ext>
            </a:extLst>
          </p:cNvPr>
          <p:cNvSpPr>
            <a:spLocks noGrp="1"/>
          </p:cNvSpPr>
          <p:nvPr/>
        </p:nvSpPr>
        <p:spPr>
          <a:xfrm>
            <a:off x="5410200" y="40386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Кандидаты, no_action, оценка и симуляция</a:t>
            </a:r>
          </a:p>
        </p:txBody>
      </p:sp>
      <p:sp>
        <p:nvSpPr>
          <p:cNvPr id="26" name="rect">
            <a:extLst>
              <a:ext uri="{FF2B5EF4-FFF2-40B4-BE49-F238E27FC236}">
                <a16:creationId xmlns:a16="http://schemas.microsoft.com/office/drawing/2014/main" id="{026D6B03-CABB-4105-A5D0-D10A9BA0CC50}"/>
              </a:ext>
            </a:extLst>
          </p:cNvPr>
          <p:cNvSpPr>
            <a:spLocks noGrp="1"/>
          </p:cNvSpPr>
          <p:nvPr/>
        </p:nvSpPr>
        <p:spPr>
          <a:xfrm>
            <a:off x="9505950" y="4010025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D48D11F2-A7EE-43C3-BE17-2FC2490DD538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Активное</a:t>
            </a:r>
          </a:p>
        </p:txBody>
      </p:sp>
      <p:sp>
        <p:nvSpPr>
          <p:cNvPr id="34" name="rect">
            <a:extLst>
              <a:ext uri="{FF2B5EF4-FFF2-40B4-BE49-F238E27FC236}">
                <a16:creationId xmlns:a16="http://schemas.microsoft.com/office/drawing/2014/main" id="{87D781D6-5E97-46BC-B5DB-47002A523F67}"/>
              </a:ext>
            </a:extLst>
          </p:cNvPr>
          <p:cNvSpPr>
            <a:spLocks noGrp="1"/>
          </p:cNvSpPr>
          <p:nvPr/>
        </p:nvSpPr>
        <p:spPr>
          <a:xfrm>
            <a:off x="533400" y="5334000"/>
            <a:ext cx="11125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9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518D4D2F-0BE8-4A95-976A-292F8F07BD0E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Зоринов Григорий Алексеевич</a:t>
            </a:r>
          </a:p>
          <a:p>
            <a:pPr algn="l">
              <a:buNone/>
              <a:defRPr sz="12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AI Engineer · LLM / App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A6179E96-71A0-42F9-8145-2B6025FCA789}"/>
              </a:ext>
            </a:extLst>
          </p:cNvPr>
          <p:cNvSpPr>
            <a:spLocks noGrp="1"/>
          </p:cNvSpPr>
          <p:nvPr/>
        </p:nvSpPr>
        <p:spPr>
          <a:xfrm>
            <a:off x="3067050" y="54864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LLM, state, antifraud</a:t>
            </a:r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59DD1DAB-953C-4A5E-BD51-1D01C155C012}"/>
              </a:ext>
            </a:extLst>
          </p:cNvPr>
          <p:cNvSpPr>
            <a:spLocks noGrp="1"/>
          </p:cNvSpPr>
          <p:nvPr/>
        </p:nvSpPr>
        <p:spPr>
          <a:xfrm>
            <a:off x="5410200" y="54864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Grounding, validator, прогресс и демо</a:t>
            </a:r>
          </a:p>
        </p:txBody>
      </p:sp>
      <p:sp>
        <p:nvSpPr>
          <p:cNvPr id="38" name="rect">
            <a:extLst>
              <a:ext uri="{FF2B5EF4-FFF2-40B4-BE49-F238E27FC236}">
                <a16:creationId xmlns:a16="http://schemas.microsoft.com/office/drawing/2014/main" id="{9583686D-FE11-4FE8-A5A4-488AA6C9F382}"/>
              </a:ext>
            </a:extLst>
          </p:cNvPr>
          <p:cNvSpPr>
            <a:spLocks noGrp="1"/>
          </p:cNvSpPr>
          <p:nvPr/>
        </p:nvSpPr>
        <p:spPr>
          <a:xfrm>
            <a:off x="9505950" y="5457825"/>
            <a:ext cx="1619250" cy="361950"/>
          </a:xfrm>
          <a:prstGeom prst="roundRect">
            <a:avLst>
              <a:gd name="adj" fmla="val 31579"/>
            </a:avLst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6B073F04-A678-45EA-B156-570074C8E137}"/>
              </a:ext>
            </a:extLst>
          </p:cNvPr>
          <p:cNvSpPr>
            <a:spLocks noGrp="1"/>
          </p:cNvSpPr>
          <p:nvPr/>
        </p:nvSpPr>
        <p:spPr>
          <a:xfrm>
            <a:off x="9620250" y="55435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Активное</a:t>
            </a:r>
          </a:p>
        </p:txBody>
      </p:sp>
    </p:spTree>
    <p:extLst>
      <p:ext uri="{BB962C8B-B14F-4D97-AF65-F5344CB8AC3E}">
        <p14:creationId xmlns:p14="http://schemas.microsoft.com/office/powerpoint/2010/main" val="600186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">
            <a:extLst>
              <a:ext uri="{FF2B5EF4-FFF2-40B4-BE49-F238E27FC236}">
                <a16:creationId xmlns:a16="http://schemas.microsoft.com/office/drawing/2014/main" id="{19662F96-5E5C-4793-8039-0FAE21CE7F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42A2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E5F97A8-A8DF-4D32-9E4C-165FCD793337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X5 Чекпоинт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5071274-E4AE-4B2A-A24A-000CA15C130D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9429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E8E8E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E8E8E8"/>
                </a:solidFill>
                <a:latin typeface="Arial"/>
                <a:ea typeface="Arial"/>
                <a:cs typeface="Arial"/>
              </a:rPr>
              <a:t>Награда запускает визит. Коллекция создаёт следующий шаг.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46F208A6-EA9B-4968-BF5A-37BBFBCE2B81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3028950" cy="0"/>
          </a:xfrm>
          <a:prstGeom prst="line">
            <a:avLst/>
          </a:prstGeom>
          <a:noFill/>
          <a:ln w="57150">
            <a:solidFill>
              <a:srgbClr val="E42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BAF605B8-F0B2-45DF-BCFD-DAE862E5DE0A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Пользователю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16975EF-7810-41E0-9D0F-EF393394E0B3}"/>
              </a:ext>
            </a:extLst>
          </p:cNvPr>
          <p:cNvSpPr>
            <a:spLocks noGrp="1"/>
          </p:cNvSpPr>
          <p:nvPr/>
        </p:nvSpPr>
        <p:spPr>
          <a:xfrm>
            <a:off x="666750" y="4200000"/>
            <a:ext cx="302895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BFC3C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FC3C7"/>
                </a:solidFill>
                <a:latin typeface="Arial"/>
                <a:ea typeface="Arial"/>
                <a:cs typeface="Arial"/>
              </a:rPr>
              <a:t>Товар сейчас; выгода дальше.</a:t>
            </a: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B3884B85-5106-4D57-B407-C7DD9A17419C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3028950" cy="0"/>
          </a:xfrm>
          <a:prstGeom prst="line">
            <a:avLst/>
          </a:prstGeom>
          <a:noFill/>
          <a:ln w="57150">
            <a:solidFill>
              <a:srgbClr val="4D9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931B715-6223-4C3F-9E35-9F2582161962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X5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5436455-3208-487B-9034-D89333305D4B}"/>
              </a:ext>
            </a:extLst>
          </p:cNvPr>
          <p:cNvSpPr>
            <a:spLocks noGrp="1"/>
          </p:cNvSpPr>
          <p:nvPr/>
        </p:nvSpPr>
        <p:spPr>
          <a:xfrm>
            <a:off x="4381500" y="4200000"/>
            <a:ext cx="302895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BFC3C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FC3C7"/>
                </a:solidFill>
                <a:latin typeface="Arial"/>
                <a:ea typeface="Arial"/>
                <a:cs typeface="Arial"/>
              </a:rPr>
              <a:t>Резерв до показа. Иначе — стоп.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B9C34FA7-5B22-4C8F-A92B-C5C66B952173}"/>
              </a:ext>
            </a:extLst>
          </p:cNvPr>
          <p:cNvSpPr>
            <a:spLocks noGrp="1"/>
          </p:cNvSpPr>
          <p:nvPr/>
        </p:nvSpPr>
        <p:spPr>
          <a:xfrm>
            <a:off x="8096250" y="3429000"/>
            <a:ext cx="3028950" cy="0"/>
          </a:xfrm>
          <a:prstGeom prst="line">
            <a:avLst/>
          </a:prstGeom>
          <a:noFill/>
          <a:ln w="5715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15C5C51-9C7A-47C2-AEC1-B3394B24F927}"/>
              </a:ext>
            </a:extLst>
          </p:cNvPr>
          <p:cNvSpPr>
            <a:spLocks noGrp="1"/>
          </p:cNvSpPr>
          <p:nvPr/>
        </p:nvSpPr>
        <p:spPr>
          <a:xfrm>
            <a:off x="8096250" y="3752850"/>
            <a:ext cx="3028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Бренду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947EC45-8718-4F9F-876A-2134A7EE905A}"/>
              </a:ext>
            </a:extLst>
          </p:cNvPr>
          <p:cNvSpPr>
            <a:spLocks noGrp="1"/>
          </p:cNvSpPr>
          <p:nvPr/>
        </p:nvSpPr>
        <p:spPr>
          <a:xfrm>
            <a:off x="8096250" y="4200000"/>
            <a:ext cx="302895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000" b="0">
                <a:solidFill>
                  <a:srgbClr val="BFC3C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FC3C7"/>
                </a:solidFill>
                <a:latin typeface="Arial"/>
                <a:ea typeface="Arial"/>
                <a:cs typeface="Arial"/>
              </a:rPr>
              <a:t>Платит только за результат.</a:t>
            </a:r>
          </a:p>
        </p:txBody>
      </p:sp>
      <p:sp>
        <p:nvSpPr>
          <p:cNvPr id="13" name="rect">
            <a:extLst>
              <a:ext uri="{FF2B5EF4-FFF2-40B4-BE49-F238E27FC236}">
                <a16:creationId xmlns:a16="http://schemas.microsoft.com/office/drawing/2014/main" id="{F4BE18A1-1E80-4F87-9B1D-3BBB203E3253}"/>
              </a:ext>
            </a:extLst>
          </p:cNvPr>
          <p:cNvSpPr>
            <a:spLocks noGrp="1"/>
          </p:cNvSpPr>
          <p:nvPr/>
        </p:nvSpPr>
        <p:spPr>
          <a:xfrm>
            <a:off x="666750" y="5300000"/>
            <a:ext cx="10000000" cy="120000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0E9777B-8A21-49F4-8A7A-661D2A082C7F}"/>
              </a:ext>
            </a:extLst>
          </p:cNvPr>
          <p:cNvSpPr>
            <a:spLocks noGrp="1"/>
          </p:cNvSpPr>
          <p:nvPr/>
        </p:nvSpPr>
        <p:spPr>
          <a:xfrm>
            <a:off x="876300" y="5450000"/>
            <a:ext cx="9500000" cy="9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887" lnSpcReduction="20000"/>
          </a:bodyPr>
          <a:lstStyle/>
          <a:p>
            <a:pPr algn="l">
              <a:buNone/>
              <a:defRPr sz="30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X5 Чекпоинт превращает подарок сейчас в повод вернуться завтра.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D2343AA9-9FF7-4D91-A485-9A9F040049A2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A8ADB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8ADB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28811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1880</Words>
  <Application>Microsoft Macintosh PowerPoint</Application>
  <DocSecurity>0</DocSecurity>
  <PresentationFormat>Widescreen</PresentationFormat>
  <Paragraphs>284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Office</cp:lastModifiedBy>
  <cp:revision>1</cp:revision>
  <dcterms:created xsi:type="dcterms:W3CDTF">2026-09-04T06:48:51Z</dcterms:created>
  <dcterms:modified xsi:type="dcterms:W3CDTF">2026-09-04T06:51:47Z</dcterms:modified>
</cp:coreProperties>
</file>